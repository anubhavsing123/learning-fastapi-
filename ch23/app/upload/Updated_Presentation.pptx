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1" r:id="rId4"/>
  </p:sldMasterIdLst>
  <p:notesMasterIdLst>
    <p:notesMasterId r:id="rId25"/>
  </p:notesMasterIdLst>
  <p:handoutMasterIdLst>
    <p:handoutMasterId r:id="rId26"/>
  </p:handoutMasterIdLst>
  <p:sldIdLst>
    <p:sldId id="294" r:id="rId5"/>
    <p:sldId id="295" r:id="rId6"/>
    <p:sldId id="289" r:id="rId7"/>
    <p:sldId id="268" r:id="rId8"/>
    <p:sldId id="269" r:id="rId9"/>
    <p:sldId id="260" r:id="rId10"/>
    <p:sldId id="270" r:id="rId11"/>
    <p:sldId id="271" r:id="rId12"/>
    <p:sldId id="272" r:id="rId13"/>
    <p:sldId id="273" r:id="rId14"/>
    <p:sldId id="274" r:id="rId15"/>
    <p:sldId id="275" r:id="rId16"/>
    <p:sldId id="288" r:id="rId17"/>
    <p:sldId id="280" r:id="rId18"/>
    <p:sldId id="281" r:id="rId19"/>
    <p:sldId id="282" r:id="rId20"/>
    <p:sldId id="283" r:id="rId21"/>
    <p:sldId id="285" r:id="rId22"/>
    <p:sldId id="286" r:id="rId23"/>
    <p:sldId id="287" r:id="rId24"/>
    <p:sldId id="296" r:id="rId32"/>
    <p:sldId id="297" r:id="rId33"/>
    <p:sldId id="298" r:id="rId34"/>
    <p:sldId id="299" r:id="rId35"/>
    <p:sldId id="300" r:id="rId3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EDC405-D250-4EF9-805E-550EE6AADBF6}" v="33" dt="2026-05-05T13:03:07.854"/>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pos="3839"/>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5/5/2026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5/5/2026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654" y="1447801"/>
            <a:ext cx="8823360" cy="3329581"/>
          </a:xfrm>
        </p:spPr>
        <p:txBody>
          <a:bodyPr anchor="b"/>
          <a:lstStyle>
            <a:lvl1pPr>
              <a:defRPr sz="7198"/>
            </a:lvl1pPr>
          </a:lstStyle>
          <a:p>
            <a:r>
              <a:rPr lang="en-US"/>
              <a:t>Click to edit Master title style</a:t>
            </a:r>
            <a:endParaRPr lang="en-US" dirty="0"/>
          </a:p>
        </p:txBody>
      </p:sp>
      <p:sp>
        <p:nvSpPr>
          <p:cNvPr id="3" name="Subtitle 2"/>
          <p:cNvSpPr>
            <a:spLocks noGrp="1"/>
          </p:cNvSpPr>
          <p:nvPr>
            <p:ph type="subTitle" idx="1"/>
          </p:nvPr>
        </p:nvSpPr>
        <p:spPr>
          <a:xfrm>
            <a:off x="1154654" y="4777380"/>
            <a:ext cx="8823360" cy="861420"/>
          </a:xfrm>
        </p:spPr>
        <p:txBody>
          <a:bodyPr anchor="t"/>
          <a:lstStyle>
            <a:lvl1pPr marL="0" indent="0" algn="l">
              <a:buNone/>
              <a:defRPr cap="all">
                <a:solidFill>
                  <a:schemeClr val="bg2">
                    <a:lumMod val="40000"/>
                    <a:lumOff val="6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270120-CDFC-48DE-A6EA-6DEEDD0E436A}"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4229347719"/>
      </p:ext>
    </p:extLst>
  </p:cSld>
  <p:clrMapOvr>
    <a:masterClrMapping/>
  </p:clrMapOvr>
  <p:transition advTm="5294">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3C9FAAF-C467-4C93-8ECD-39AF5A14D498}"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1323540767"/>
      </p:ext>
    </p:extLst>
  </p:cSld>
  <p:clrMapOvr>
    <a:masterClrMapping/>
  </p:clrMapOvr>
  <p:transition advTm="5294">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656" y="2861734"/>
            <a:ext cx="8823359" cy="1915647"/>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0" cy="860400"/>
          </a:xfrm>
        </p:spPr>
        <p:txBody>
          <a:bodyPr anchor="t"/>
          <a:lstStyle>
            <a:lvl1pPr marL="0" indent="0" algn="l">
              <a:buNone/>
              <a:defRPr sz="1999" cap="all">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37E480-B2BA-4553-A144-61E7F75833ED}"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1220712470"/>
      </p:ext>
    </p:extLst>
  </p:cSld>
  <p:clrMapOvr>
    <a:masterClrMapping/>
  </p:clrMapOvr>
  <p:transition advTm="5294">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025" y="2060576"/>
            <a:ext cx="4395194" cy="4195763"/>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3021" y="2056093"/>
            <a:ext cx="4395196" cy="4200245"/>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0E682A-6B53-4B08-AE4D-4C5E659103CC}" type="datetimeFigureOut">
              <a:rPr lang="en-US" smtClean="0"/>
              <a:t>5/5/2026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3947153287"/>
      </p:ext>
    </p:extLst>
  </p:cSld>
  <p:clrMapOvr>
    <a:masterClrMapping/>
  </p:clrMapOvr>
  <p:transition advTm="5294">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026" y="1905000"/>
            <a:ext cx="4395193"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025"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3023" y="1905000"/>
            <a:ext cx="439519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3023"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69F0F6-BEBB-4894-ABB2-75C5CBE0DDB9}" type="datetimeFigureOut">
              <a:rPr lang="en-US" smtClean="0"/>
              <a:t>5/5/2026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3398619614"/>
      </p:ext>
    </p:extLst>
  </p:cSld>
  <p:clrMapOvr>
    <a:masterClrMapping/>
  </p:clrMapOvr>
  <p:transition advTm="5294">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B3E9E5F-17D9-4A30-9DA3-64E46A6DF111}" type="datetimeFigureOut">
              <a:rPr lang="en-US" smtClean="0"/>
              <a:t>5/5/2026</a:t>
            </a:fld>
            <a:endParaRPr lang="en-US"/>
          </a:p>
        </p:txBody>
      </p:sp>
      <p:sp>
        <p:nvSpPr>
          <p:cNvPr id="5" name="Footer Placeholder 3"/>
          <p:cNvSpPr>
            <a:spLocks noGrp="1"/>
          </p:cNvSpPr>
          <p:nvPr>
            <p:ph type="ftr" sz="quarter" idx="11"/>
          </p:nvPr>
        </p:nvSpPr>
        <p:spPr/>
        <p:txBody>
          <a:bodyPr/>
          <a:lstStyle/>
          <a:p>
            <a:r>
              <a:rPr lang="en-US"/>
              <a:t>
              </a:t>
            </a:r>
          </a:p>
        </p:txBody>
      </p:sp>
      <p:sp>
        <p:nvSpPr>
          <p:cNvPr id="6" name="Slide Number Placeholder 4"/>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4043514710"/>
      </p:ext>
    </p:extLst>
  </p:cSld>
  <p:clrMapOvr>
    <a:masterClrMapping/>
  </p:clrMapOvr>
  <p:transition advTm="5294">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33AC5F0-3BC3-4718-BCCA-24B5655EC864}" type="datetimeFigureOut">
              <a:rPr lang="en-US" smtClean="0"/>
              <a:t>5/5/2026</a:t>
            </a:fld>
            <a:endParaRPr lang="en-US"/>
          </a:p>
        </p:txBody>
      </p:sp>
      <p:sp>
        <p:nvSpPr>
          <p:cNvPr id="5" name="Footer Placeholder 2"/>
          <p:cNvSpPr>
            <a:spLocks noGrp="1"/>
          </p:cNvSpPr>
          <p:nvPr>
            <p:ph type="ftr" sz="quarter" idx="11"/>
          </p:nvPr>
        </p:nvSpPr>
        <p:spPr/>
        <p:txBody>
          <a:bodyPr/>
          <a:lstStyle/>
          <a:p>
            <a:r>
              <a:rPr lang="en-US"/>
              <a:t>
              </a:t>
            </a:r>
          </a:p>
        </p:txBody>
      </p:sp>
      <p:sp>
        <p:nvSpPr>
          <p:cNvPr id="6" name="Slide Number Placeholder 3"/>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1847053524"/>
      </p:ext>
    </p:extLst>
  </p:cSld>
  <p:clrMapOvr>
    <a:masterClrMapping/>
  </p:clrMapOvr>
  <p:transition advTm="5294">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2" y="1447800"/>
            <a:ext cx="3400178" cy="1447800"/>
          </a:xfrm>
        </p:spPr>
        <p:txBody>
          <a:bodyPr anchor="b"/>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4783370" y="1447800"/>
            <a:ext cx="5194644" cy="4572000"/>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653" y="3129281"/>
            <a:ext cx="3400177" cy="2895599"/>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EB8BD81-465B-40F2-9A54-9DF3B12AF598}" type="datetimeFigureOut">
              <a:rPr lang="en-US" smtClean="0"/>
              <a:t>5/5/2026</a:t>
            </a:fld>
            <a:endParaRPr lang="en-US"/>
          </a:p>
        </p:txBody>
      </p:sp>
      <p:sp>
        <p:nvSpPr>
          <p:cNvPr id="5" name="Footer Placeholder 5"/>
          <p:cNvSpPr>
            <a:spLocks noGrp="1"/>
          </p:cNvSpPr>
          <p:nvPr>
            <p:ph type="ftr" sz="quarter" idx="11"/>
          </p:nvPr>
        </p:nvSpPr>
        <p:spPr/>
        <p:txBody>
          <a:bodyPr/>
          <a:lstStyle/>
          <a:p>
            <a:r>
              <a:rPr lang="en-US"/>
              <a:t>
              </a:t>
            </a:r>
          </a:p>
        </p:txBody>
      </p:sp>
      <p:sp>
        <p:nvSpPr>
          <p:cNvPr id="6" name="Slide Number Placeholder 6"/>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3145999997"/>
      </p:ext>
    </p:extLst>
  </p:cSld>
  <p:clrMapOvr>
    <a:masterClrMapping/>
  </p:clrMapOvr>
  <p:transition advTm="5294">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606" y="1854192"/>
            <a:ext cx="5091580" cy="1574808"/>
          </a:xfrm>
        </p:spPr>
        <p:txBody>
          <a:bodyPr anchor="b">
            <a:normAutofit/>
          </a:bodyPr>
          <a:lstStyle>
            <a:lvl1pPr algn="l">
              <a:defRPr sz="35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7736" y="1143000"/>
            <a:ext cx="3199567"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4" y="3657600"/>
            <a:ext cx="5083655" cy="1371600"/>
          </a:xfrm>
        </p:spPr>
        <p:txBody>
          <a:bodyPr>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4B3CEF-64EF-4C43-9530-8E9CBFD2CAD1}" type="datetimeFigureOut">
              <a:rPr lang="en-US" smtClean="0"/>
              <a:t>5/5/2026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1885762933"/>
      </p:ext>
    </p:extLst>
  </p:cSld>
  <p:clrMapOvr>
    <a:masterClrMapping/>
  </p:clrMapOvr>
  <p:transition advTm="5294">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6" y="4800587"/>
            <a:ext cx="8823359"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654" y="685800"/>
            <a:ext cx="8823360"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5" y="5367325"/>
            <a:ext cx="8823358" cy="493712"/>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0A3DFD-A535-46B2-84C1-61DC8B16A904}" type="datetimeFigureOut">
              <a:rPr lang="en-US" smtClean="0"/>
              <a:t>5/5/2026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2006968174"/>
      </p:ext>
    </p:extLst>
  </p:cSld>
  <p:clrMapOvr>
    <a:masterClrMapping/>
  </p:clrMapOvr>
  <p:transition advTm="5294">
    <p:wipe/>
  </p:transition>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4" y="1447800"/>
            <a:ext cx="8823361" cy="1981200"/>
          </a:xfrm>
        </p:spPr>
        <p:txBody>
          <a:bodyPr/>
          <a:lstStyle>
            <a:lvl1pPr>
              <a:defRPr sz="4799"/>
            </a:lvl1pPr>
          </a:lstStyle>
          <a:p>
            <a:r>
              <a:rPr lang="en-US"/>
              <a:t>Click to edit Master title style</a:t>
            </a:r>
            <a:endParaRPr lang="en-US" dirty="0"/>
          </a:p>
        </p:txBody>
      </p:sp>
      <p:sp>
        <p:nvSpPr>
          <p:cNvPr id="8" name="Text Placeholder 3"/>
          <p:cNvSpPr>
            <a:spLocks noGrp="1"/>
          </p:cNvSpPr>
          <p:nvPr>
            <p:ph type="body" sz="half" idx="2"/>
          </p:nvPr>
        </p:nvSpPr>
        <p:spPr>
          <a:xfrm>
            <a:off x="1154654" y="3657600"/>
            <a:ext cx="8823361" cy="23622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70A3DFD-A535-46B2-84C1-61DC8B16A904}"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1802729064"/>
      </p:ext>
    </p:extLst>
  </p:cSld>
  <p:clrMapOvr>
    <a:masterClrMapping/>
  </p:clrMapOvr>
  <p:transition advTm="5294">
    <p:wipe/>
  </p:transition>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391" y="1447800"/>
            <a:ext cx="7997232" cy="2323374"/>
          </a:xfrm>
        </p:spPr>
        <p:txBody>
          <a:bodyPr/>
          <a:lstStyle>
            <a:lvl1pPr>
              <a:defRPr sz="4799"/>
            </a:lvl1pPr>
          </a:lstStyle>
          <a:p>
            <a:r>
              <a:rPr lang="en-US"/>
              <a:t>Click to edit Master title style</a:t>
            </a:r>
            <a:endParaRPr lang="en-US" dirty="0"/>
          </a:p>
        </p:txBody>
      </p:sp>
      <p:sp>
        <p:nvSpPr>
          <p:cNvPr id="11" name="Text Placeholder 3"/>
          <p:cNvSpPr>
            <a:spLocks noGrp="1"/>
          </p:cNvSpPr>
          <p:nvPr>
            <p:ph type="body" sz="half" idx="14"/>
          </p:nvPr>
        </p:nvSpPr>
        <p:spPr>
          <a:xfrm>
            <a:off x="1929898" y="3771174"/>
            <a:ext cx="7277753"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654" y="4350657"/>
            <a:ext cx="8823361" cy="16764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70A3DFD-A535-46B2-84C1-61DC8B16A904}"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
        <p:nvSpPr>
          <p:cNvPr id="12" name="TextBox 11"/>
          <p:cNvSpPr txBox="1"/>
          <p:nvPr/>
        </p:nvSpPr>
        <p:spPr>
          <a:xfrm>
            <a:off x="898061" y="971253"/>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
        <p:nvSpPr>
          <p:cNvPr id="15" name="TextBox 14"/>
          <p:cNvSpPr txBox="1"/>
          <p:nvPr/>
        </p:nvSpPr>
        <p:spPr>
          <a:xfrm>
            <a:off x="9328060" y="2613787"/>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Tree>
    <p:extLst>
      <p:ext uri="{BB962C8B-B14F-4D97-AF65-F5344CB8AC3E}">
        <p14:creationId xmlns:p14="http://schemas.microsoft.com/office/powerpoint/2010/main" val="977616188"/>
      </p:ext>
    </p:extLst>
  </p:cSld>
  <p:clrMapOvr>
    <a:masterClrMapping/>
  </p:clrMapOvr>
  <p:transition advTm="5294">
    <p:wipe/>
  </p:transition>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653" y="3124201"/>
            <a:ext cx="8823362" cy="1653180"/>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1" cy="860400"/>
          </a:xfrm>
        </p:spPr>
        <p:txBody>
          <a:bodyPr anchor="t"/>
          <a:lstStyle>
            <a:lvl1pPr marL="0" indent="0" algn="l">
              <a:buNone/>
              <a:defRPr sz="1999" cap="none">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0A3DFD-A535-46B2-84C1-61DC8B16A904}"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711100338"/>
      </p:ext>
    </p:extLst>
  </p:cSld>
  <p:clrMapOvr>
    <a:masterClrMapping/>
  </p:clrMapOvr>
  <p:transition advTm="5294">
    <p:wipe/>
  </p:transition>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32782" y="1981200"/>
            <a:ext cx="294609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293" y="2667000"/>
            <a:ext cx="2926588"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2648" y="1981200"/>
            <a:ext cx="2935476"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2097" y="2667000"/>
            <a:ext cx="2946027"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1981200"/>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2845" y="2667000"/>
            <a:ext cx="2931349"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7" name="Straight Connector 16"/>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70A3DFD-A535-46B2-84C1-61DC8B16A904}" type="datetimeFigureOut">
              <a:rPr lang="en-US" smtClean="0"/>
              <a:t>5/5/2026</a:t>
            </a:fld>
            <a:endParaRPr lang="en-US"/>
          </a:p>
        </p:txBody>
      </p:sp>
      <p:sp>
        <p:nvSpPr>
          <p:cNvPr id="4"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2905077784"/>
      </p:ext>
    </p:extLst>
  </p:cSld>
  <p:clrMapOvr>
    <a:masterClrMapping/>
  </p:clrMapOvr>
  <p:transition advTm="5294">
    <p:wipe/>
  </p:transition>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52293" y="4250949"/>
            <a:ext cx="293928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293" y="2209800"/>
            <a:ext cx="293928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293" y="4827212"/>
            <a:ext cx="2939284"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8363" y="4250949"/>
            <a:ext cx="2929762"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8362" y="2209800"/>
            <a:ext cx="292976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7009" y="4827211"/>
            <a:ext cx="293364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4250949"/>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2844" y="2209800"/>
            <a:ext cx="2931349"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2720" y="4827209"/>
            <a:ext cx="293523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9" name="Straight Connector 18"/>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70A3DFD-A535-46B2-84C1-61DC8B16A904}" type="datetimeFigureOut">
              <a:rPr lang="en-US" smtClean="0"/>
              <a:t>5/5/2026</a:t>
            </a:fld>
            <a:endParaRPr lang="en-US"/>
          </a:p>
        </p:txBody>
      </p:sp>
      <p:sp>
        <p:nvSpPr>
          <p:cNvPr id="4"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2971516215"/>
      </p:ext>
    </p:extLst>
  </p:cSld>
  <p:clrMapOvr>
    <a:masterClrMapping/>
  </p:clrMapOvr>
  <p:transition advTm="5294">
    <p:wipe/>
  </p:transition>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1F5BA7-0A17-4D30-9B66-E29324151C73}"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1374658333"/>
      </p:ext>
    </p:extLst>
  </p:cSld>
  <p:clrMapOvr>
    <a:masterClrMapping/>
  </p:clrMapOvr>
  <p:transition advTm="5294">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2050" y="430214"/>
            <a:ext cx="1752145"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294" y="887414"/>
            <a:ext cx="7421216"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BEBB1B-D40A-4DB9-B3DE-BAAE675B83CD}"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196A61CA-0502-4EE4-9724-96EA822543E5}" type="slidenum">
              <a:rPr lang="en-US" smtClean="0"/>
              <a:t>‹#›</a:t>
            </a:fld>
            <a:endParaRPr lang="en-US"/>
          </a:p>
        </p:txBody>
      </p:sp>
    </p:spTree>
    <p:extLst>
      <p:ext uri="{BB962C8B-B14F-4D97-AF65-F5344CB8AC3E}">
        <p14:creationId xmlns:p14="http://schemas.microsoft.com/office/powerpoint/2010/main" val="1741420264"/>
      </p:ext>
    </p:extLst>
  </p:cSld>
  <p:clrMapOvr>
    <a:masterClrMapping/>
  </p:clrMapOvr>
  <p:transition advTm="5294">
    <p:wip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 Id="rId20" Type="http://schemas.openxmlformats.org/officeDocument/2006/relationships/image" Target="../media/image3.png"/><Relationship Id="rId21" Type="http://schemas.openxmlformats.org/officeDocument/2006/relationships/image" Target="../media/image4.png"/><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6"/>
            <a:ext cx="4035961"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8"/>
            <a:ext cx="1522016" cy="2365453"/>
          </a:xfrm>
          <a:prstGeom prst="rect">
            <a:avLst/>
          </a:prstGeom>
        </p:spPr>
      </p:pic>
      <p:sp>
        <p:nvSpPr>
          <p:cNvPr id="16" name="Oval 15"/>
          <p:cNvSpPr/>
          <p:nvPr/>
        </p:nvSpPr>
        <p:spPr>
          <a:xfrm>
            <a:off x="8606770" y="1676400"/>
            <a:ext cx="2818666"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7330" y="1"/>
            <a:ext cx="1602969"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3637" y="6096000"/>
            <a:ext cx="993475" cy="762000"/>
          </a:xfrm>
          <a:prstGeom prst="rect">
            <a:avLst/>
          </a:prstGeom>
        </p:spPr>
      </p:pic>
      <p:sp>
        <p:nvSpPr>
          <p:cNvPr id="14" name="Rectangle 13"/>
          <p:cNvSpPr/>
          <p:nvPr/>
        </p:nvSpPr>
        <p:spPr>
          <a:xfrm>
            <a:off x="10435094" y="0"/>
            <a:ext cx="685621"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5943" y="452718"/>
            <a:ext cx="9402274"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025" y="2052919"/>
            <a:ext cx="894421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2866" y="1790741"/>
            <a:ext cx="990599" cy="304720"/>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70A3DFD-A535-46B2-84C1-61DC8B16A904}" type="datetimeFigureOut">
              <a:rPr lang="en-US" smtClean="0"/>
              <a:t>5/5/2026</a:t>
            </a:fld>
            <a:endParaRPr lang="en-US"/>
          </a:p>
        </p:txBody>
      </p:sp>
      <p:sp>
        <p:nvSpPr>
          <p:cNvPr id="5" name="Footer Placeholder 4"/>
          <p:cNvSpPr>
            <a:spLocks noGrp="1"/>
          </p:cNvSpPr>
          <p:nvPr>
            <p:ph type="ftr" sz="quarter" idx="3"/>
          </p:nvPr>
        </p:nvSpPr>
        <p:spPr>
          <a:xfrm rot="5400000">
            <a:off x="8948740" y="3225337"/>
            <a:ext cx="3859795" cy="304722"/>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
              </a:t>
            </a:r>
          </a:p>
        </p:txBody>
      </p:sp>
      <p:sp>
        <p:nvSpPr>
          <p:cNvPr id="6" name="Slide Number Placeholder 5"/>
          <p:cNvSpPr>
            <a:spLocks noGrp="1"/>
          </p:cNvSpPr>
          <p:nvPr>
            <p:ph type="sldNum" sz="quarter" idx="4"/>
          </p:nvPr>
        </p:nvSpPr>
        <p:spPr bwMode="gray">
          <a:xfrm>
            <a:off x="10349844" y="295730"/>
            <a:ext cx="837981" cy="767687"/>
          </a:xfrm>
          <a:prstGeom prst="rect">
            <a:avLst/>
          </a:prstGeom>
        </p:spPr>
        <p:txBody>
          <a:bodyPr vert="horz" lIns="91440" tIns="45720" rIns="91440" bIns="45720" rtlCol="0" anchor="b"/>
          <a:lstStyle>
            <a:lvl1pPr algn="ctr">
              <a:defRPr sz="2799" b="0" i="0">
                <a:solidFill>
                  <a:schemeClr val="tx1">
                    <a:tint val="75000"/>
                  </a:schemeClr>
                </a:solidFill>
              </a:defRPr>
            </a:lvl1pPr>
          </a:lstStyle>
          <a:p>
            <a:fld id="{196A61CA-0502-4EE4-9724-96EA822543E5}" type="slidenum">
              <a:rPr lang="en-US" smtClean="0"/>
              <a:t>‹#›</a:t>
            </a:fld>
            <a:endParaRPr lang="en-US"/>
          </a:p>
        </p:txBody>
      </p:sp>
    </p:spTree>
    <p:extLst>
      <p:ext uri="{BB962C8B-B14F-4D97-AF65-F5344CB8AC3E}">
        <p14:creationId xmlns:p14="http://schemas.microsoft.com/office/powerpoint/2010/main" val="1604456583"/>
      </p:ext>
    </p:extLst>
  </p:cSld>
  <p:clrMap bg1="dk1" tx1="lt1" bg2="dk2" tx2="lt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7" r:id="rId6"/>
    <p:sldLayoutId id="2147483998" r:id="rId7"/>
    <p:sldLayoutId id="2147483999" r:id="rId8"/>
    <p:sldLayoutId id="2147484000" r:id="rId9"/>
    <p:sldLayoutId id="2147484001" r:id="rId10"/>
    <p:sldLayoutId id="2147484002" r:id="rId11"/>
    <p:sldLayoutId id="2147484003" r:id="rId12"/>
    <p:sldLayoutId id="2147484004" r:id="rId13"/>
    <p:sldLayoutId id="2147484005" r:id="rId14"/>
    <p:sldLayoutId id="2147484006" r:id="rId15"/>
    <p:sldLayoutId id="2147484007" r:id="rId16"/>
    <p:sldLayoutId id="2147484008" r:id="rId17"/>
  </p:sldLayoutIdLst>
  <p:transition advTm="5294">
    <p:wipe/>
  </p:transition>
  <p:hf hdr="0"/>
  <p:txStyles>
    <p:titleStyle>
      <a:lvl1pPr algn="l" defTabSz="457063" rtl="0" eaLnBrk="1" latinLnBrk="0" hangingPunct="1">
        <a:spcBef>
          <a:spcPct val="0"/>
        </a:spcBef>
        <a:buNone/>
        <a:defRPr sz="4199"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bg2">
            <a:lumMod val="40000"/>
            <a:lumOff val="60000"/>
          </a:schemeClr>
        </a:buClr>
        <a:buSzPct val="80000"/>
        <a:buFont typeface="Wingdings 3" charset="2"/>
        <a:buChar char=""/>
        <a:defRPr sz="1999" b="0" i="0" kern="1200">
          <a:solidFill>
            <a:schemeClr val="tx1"/>
          </a:solidFill>
          <a:latin typeface="+mj-lt"/>
          <a:ea typeface="+mj-ea"/>
          <a:cs typeface="+mj-cs"/>
        </a:defRPr>
      </a:lvl1pPr>
      <a:lvl2pPr marL="742727" indent="-285664" algn="l" defTabSz="457063" rtl="0" eaLnBrk="1" latinLnBrk="0" hangingPunct="1">
        <a:spcBef>
          <a:spcPts val="1000"/>
        </a:spcBef>
        <a:spcAft>
          <a:spcPts val="0"/>
        </a:spcAft>
        <a:buClr>
          <a:schemeClr val="bg2">
            <a:lumMod val="40000"/>
            <a:lumOff val="60000"/>
          </a:schemeClr>
        </a:buClr>
        <a:buSzPct val="80000"/>
        <a:buFont typeface="Wingdings 3" charset="2"/>
        <a:buChar char=""/>
        <a:defRPr sz="1799" b="0" i="0" kern="1200">
          <a:solidFill>
            <a:schemeClr val="tx1"/>
          </a:solidFill>
          <a:latin typeface="+mj-lt"/>
          <a:ea typeface="+mj-ea"/>
          <a:cs typeface="+mj-cs"/>
        </a:defRPr>
      </a:lvl2pPr>
      <a:lvl3pPr marL="1142657"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599720"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6783"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24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090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7971"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5034"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userDrawn="1">
          <p15:clr>
            <a:srgbClr val="F26B43"/>
          </p15:clr>
        </p15:guide>
        <p15:guide id="2" pos="3839" userDrawn="1">
          <p15:clr>
            <a:srgbClr val="F26B43"/>
          </p15:clr>
        </p15:guide>
        <p15:guide id="3" pos="7198" userDrawn="1">
          <p15:clr>
            <a:srgbClr val="F26B43"/>
          </p15:clr>
        </p15:guide>
        <p15:guide id="4" pos="6718" userDrawn="1">
          <p15:clr>
            <a:srgbClr val="F26B43"/>
          </p15:clr>
        </p15:guide>
        <p15:guide id="5" pos="480" userDrawn="1">
          <p15:clr>
            <a:srgbClr val="F26B43"/>
          </p15:clr>
        </p15:guide>
        <p15:guide id="6" orient="horz"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D0DA-1DE2-7CE9-4994-EF1ED7B02274}"/>
              </a:ext>
            </a:extLst>
          </p:cNvPr>
          <p:cNvSpPr>
            <a:spLocks noGrp="1"/>
          </p:cNvSpPr>
          <p:nvPr>
            <p:ph type="ctrTitle"/>
          </p:nvPr>
        </p:nvSpPr>
        <p:spPr>
          <a:xfrm>
            <a:off x="589935" y="23947"/>
            <a:ext cx="10441064" cy="3859796"/>
          </a:xfrm>
        </p:spPr>
        <p:txBody>
          <a:bodyPr>
            <a:normAutofit/>
          </a:bodyPr>
          <a:lstStyle/>
          <a:p>
            <a:r>
              <a:rPr lang="en-US" dirty="0"/>
              <a:t>CALIFORNIA HOUSING PRICE PREDICTION ON FPGA USING CNN</a:t>
            </a:r>
            <a:endParaRPr lang="en-IN" dirty="0"/>
          </a:p>
        </p:txBody>
      </p:sp>
      <p:sp>
        <p:nvSpPr>
          <p:cNvPr id="3" name="Subtitle 2">
            <a:extLst>
              <a:ext uri="{FF2B5EF4-FFF2-40B4-BE49-F238E27FC236}">
                <a16:creationId xmlns:a16="http://schemas.microsoft.com/office/drawing/2014/main" id="{DD76EE6F-1900-6AF4-674C-ED991DEA8964}"/>
              </a:ext>
            </a:extLst>
          </p:cNvPr>
          <p:cNvSpPr>
            <a:spLocks noGrp="1"/>
          </p:cNvSpPr>
          <p:nvPr>
            <p:ph type="subTitle" idx="1"/>
          </p:nvPr>
        </p:nvSpPr>
        <p:spPr>
          <a:xfrm>
            <a:off x="1157826" y="5003522"/>
            <a:ext cx="8823360" cy="861420"/>
          </a:xfrm>
        </p:spPr>
        <p:txBody>
          <a:bodyPr/>
          <a:lstStyle/>
          <a:p>
            <a:r>
              <a:rPr lang="en-US" dirty="0"/>
              <a:t>RISHABH(2201100300043) , ANUBHAV(2201100300013) , ANUJ(2201100300014)  </a:t>
            </a:r>
          </a:p>
          <a:p>
            <a:endParaRPr lang="en-IN" dirty="0"/>
          </a:p>
        </p:txBody>
      </p:sp>
      <p:sp>
        <p:nvSpPr>
          <p:cNvPr id="4" name="Date Placeholder 3">
            <a:extLst>
              <a:ext uri="{FF2B5EF4-FFF2-40B4-BE49-F238E27FC236}">
                <a16:creationId xmlns:a16="http://schemas.microsoft.com/office/drawing/2014/main" id="{D76D36E1-A939-E111-07A2-E792680FBFAD}"/>
              </a:ext>
            </a:extLst>
          </p:cNvPr>
          <p:cNvSpPr>
            <a:spLocks noGrp="1"/>
          </p:cNvSpPr>
          <p:nvPr>
            <p:ph type="dt" sz="half" idx="10"/>
          </p:nvPr>
        </p:nvSpPr>
        <p:spPr/>
        <p:txBody>
          <a:bodyPr/>
          <a:lstStyle/>
          <a:p>
            <a:fld id="{765FE91C-CD10-4DC2-9369-2DCD74DAE7B6}" type="datetime1">
              <a:rPr lang="en-US" smtClean="0"/>
              <a:t>5/5/2026</a:t>
            </a:fld>
            <a:endParaRPr lang="en-US"/>
          </a:p>
        </p:txBody>
      </p:sp>
      <p:sp>
        <p:nvSpPr>
          <p:cNvPr id="5" name="Footer Placeholder 4">
            <a:extLst>
              <a:ext uri="{FF2B5EF4-FFF2-40B4-BE49-F238E27FC236}">
                <a16:creationId xmlns:a16="http://schemas.microsoft.com/office/drawing/2014/main" id="{F3215EDF-4EB0-3FE2-5417-D59362A71A6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13F98F4-F829-9EA0-805E-F12EEA3EE1B1}"/>
              </a:ext>
            </a:extLst>
          </p:cNvPr>
          <p:cNvSpPr>
            <a:spLocks noGrp="1"/>
          </p:cNvSpPr>
          <p:nvPr>
            <p:ph type="sldNum" sz="quarter" idx="12"/>
          </p:nvPr>
        </p:nvSpPr>
        <p:spPr/>
        <p:txBody>
          <a:bodyPr/>
          <a:lstStyle/>
          <a:p>
            <a:fld id="{196A61CA-0502-4EE4-9724-96EA822543E5}" type="slidenum">
              <a:rPr lang="en-US" smtClean="0"/>
              <a:t>1</a:t>
            </a:fld>
            <a:endParaRPr lang="en-US"/>
          </a:p>
        </p:txBody>
      </p:sp>
    </p:spTree>
    <p:extLst>
      <p:ext uri="{BB962C8B-B14F-4D97-AF65-F5344CB8AC3E}">
        <p14:creationId xmlns:p14="http://schemas.microsoft.com/office/powerpoint/2010/main" val="2183715495"/>
      </p:ext>
    </p:extLst>
  </p:cSld>
  <p:clrMapOvr>
    <a:masterClrMapping/>
  </p:clrMapOvr>
  <p:transition advTm="5294">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E78F-B975-B987-A712-D8622CB31903}"/>
              </a:ext>
            </a:extLst>
          </p:cNvPr>
          <p:cNvSpPr>
            <a:spLocks noGrp="1"/>
          </p:cNvSpPr>
          <p:nvPr>
            <p:ph type="title"/>
          </p:nvPr>
        </p:nvSpPr>
        <p:spPr>
          <a:xfrm>
            <a:off x="1429194" y="137653"/>
            <a:ext cx="9236028" cy="845574"/>
          </a:xfrm>
        </p:spPr>
        <p:txBody>
          <a:bodyPr/>
          <a:lstStyle/>
          <a:p>
            <a:r>
              <a:rPr lang="en-US" dirty="0"/>
              <a:t>CONTENT</a:t>
            </a:r>
            <a:endParaRPr lang="en-IN" dirty="0"/>
          </a:p>
        </p:txBody>
      </p:sp>
      <p:sp>
        <p:nvSpPr>
          <p:cNvPr id="3" name="Content Placeholder 2">
            <a:extLst>
              <a:ext uri="{FF2B5EF4-FFF2-40B4-BE49-F238E27FC236}">
                <a16:creationId xmlns:a16="http://schemas.microsoft.com/office/drawing/2014/main" id="{BD6C4B88-E9D3-3DDA-842A-FFF8B90DDB82}"/>
              </a:ext>
            </a:extLst>
          </p:cNvPr>
          <p:cNvSpPr>
            <a:spLocks noGrp="1"/>
          </p:cNvSpPr>
          <p:nvPr>
            <p:ph idx="1"/>
          </p:nvPr>
        </p:nvSpPr>
        <p:spPr>
          <a:xfrm>
            <a:off x="1429194" y="1071715"/>
            <a:ext cx="9236028" cy="5648631"/>
          </a:xfrm>
        </p:spPr>
        <p:txBody>
          <a:bodyPr>
            <a:normAutofit fontScale="92500" lnSpcReduction="20000"/>
          </a:bodyPr>
          <a:lstStyle/>
          <a:p>
            <a:pPr marL="0" indent="0">
              <a:buNone/>
            </a:pPr>
            <a:r>
              <a:rPr lang="en-US" sz="2000" dirty="0"/>
              <a:t>PYTHON</a:t>
            </a:r>
          </a:p>
          <a:p>
            <a:pPr marL="0" indent="0">
              <a:buNone/>
            </a:pPr>
            <a:r>
              <a:rPr lang="en-US" sz="2000" dirty="0"/>
              <a:t>CNN</a:t>
            </a:r>
          </a:p>
          <a:p>
            <a:pPr marL="0" indent="0">
              <a:buNone/>
            </a:pPr>
            <a:r>
              <a:rPr lang="en-US" sz="2000" dirty="0"/>
              <a:t>REGRESSION MODEL (FORWARD PROPAGATION)</a:t>
            </a:r>
          </a:p>
          <a:p>
            <a:pPr marL="0" indent="0">
              <a:buNone/>
            </a:pPr>
            <a:r>
              <a:rPr lang="en-US" sz="2000" dirty="0"/>
              <a:t>MINIST DATASET USED FOR CNN MODEL</a:t>
            </a:r>
          </a:p>
          <a:p>
            <a:pPr marL="0" indent="0">
              <a:buNone/>
            </a:pPr>
            <a:r>
              <a:rPr lang="en-US" sz="2000" dirty="0"/>
              <a:t>PANDAS</a:t>
            </a:r>
          </a:p>
          <a:p>
            <a:pPr marL="0" indent="0">
              <a:buNone/>
            </a:pPr>
            <a:r>
              <a:rPr lang="en-US" sz="2000" dirty="0"/>
              <a:t>NUMPY</a:t>
            </a:r>
          </a:p>
          <a:p>
            <a:pPr marL="0" indent="0">
              <a:buNone/>
            </a:pPr>
            <a:r>
              <a:rPr lang="en-US" sz="2000" dirty="0"/>
              <a:t>MATPLOTLIB</a:t>
            </a:r>
          </a:p>
          <a:p>
            <a:pPr marL="0" indent="0">
              <a:buNone/>
            </a:pPr>
            <a:r>
              <a:rPr lang="en-US" sz="2000" dirty="0"/>
              <a:t>DATA PREPARATION &amp; PARTITIONING</a:t>
            </a:r>
          </a:p>
          <a:p>
            <a:pPr marL="0" indent="0">
              <a:buNone/>
            </a:pPr>
            <a:r>
              <a:rPr lang="en-US" sz="2000" dirty="0"/>
              <a:t>MODEL ARCHITECTURE &amp; TRAINING</a:t>
            </a:r>
          </a:p>
          <a:p>
            <a:pPr marL="0" indent="0">
              <a:buNone/>
            </a:pPr>
            <a:r>
              <a:rPr lang="en-US" sz="2000" dirty="0"/>
              <a:t>PERFORMANCE EVALUTION AND EXPORT</a:t>
            </a:r>
          </a:p>
          <a:p>
            <a:pPr marL="0" indent="0">
              <a:buNone/>
            </a:pPr>
            <a:r>
              <a:rPr lang="en-US" sz="2000" dirty="0"/>
              <a:t>QNN (QUANTIZED NEUTRAL NETWORK)</a:t>
            </a:r>
          </a:p>
          <a:p>
            <a:pPr marL="0" indent="0">
              <a:buNone/>
            </a:pPr>
            <a:r>
              <a:rPr lang="en-US" sz="2000" dirty="0"/>
              <a:t>TANG NANO 9K</a:t>
            </a:r>
          </a:p>
          <a:p>
            <a:pPr marL="0" indent="0">
              <a:buNone/>
            </a:pPr>
            <a:r>
              <a:rPr lang="en-US" sz="2000" dirty="0"/>
              <a:t>VS CODE ENVIRONMENT FOR TANG NANO 9K</a:t>
            </a:r>
          </a:p>
          <a:p>
            <a:pPr marL="0" indent="0">
              <a:buNone/>
            </a:pPr>
            <a:r>
              <a:rPr lang="en-US" sz="2000" dirty="0"/>
              <a:t>UART</a:t>
            </a:r>
          </a:p>
          <a:p>
            <a:pPr marL="0" indent="0">
              <a:buNone/>
            </a:pPr>
            <a:r>
              <a:rPr lang="en-US" sz="2000" dirty="0"/>
              <a:t>BRAM</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IN" sz="2000" dirty="0"/>
          </a:p>
        </p:txBody>
      </p:sp>
      <p:sp>
        <p:nvSpPr>
          <p:cNvPr id="4" name="Date Placeholder 3">
            <a:extLst>
              <a:ext uri="{FF2B5EF4-FFF2-40B4-BE49-F238E27FC236}">
                <a16:creationId xmlns:a16="http://schemas.microsoft.com/office/drawing/2014/main" id="{F8BD5650-7AE0-A2C4-608F-96E61DD1FCD0}"/>
              </a:ext>
            </a:extLst>
          </p:cNvPr>
          <p:cNvSpPr>
            <a:spLocks noGrp="1"/>
          </p:cNvSpPr>
          <p:nvPr>
            <p:ph type="dt" sz="half" idx="10"/>
          </p:nvPr>
        </p:nvSpPr>
        <p:spPr/>
        <p:txBody>
          <a:bodyPr/>
          <a:lstStyle/>
          <a:p>
            <a:fld id="{175D8D46-1BC3-4443-8E19-70BABCC9CB49}" type="datetime1">
              <a:rPr lang="en-US" smtClean="0"/>
              <a:t>5/5/2026</a:t>
            </a:fld>
            <a:endParaRPr lang="en-US"/>
          </a:p>
        </p:txBody>
      </p:sp>
      <p:sp>
        <p:nvSpPr>
          <p:cNvPr id="5" name="Footer Placeholder 4">
            <a:extLst>
              <a:ext uri="{FF2B5EF4-FFF2-40B4-BE49-F238E27FC236}">
                <a16:creationId xmlns:a16="http://schemas.microsoft.com/office/drawing/2014/main" id="{BACA8BF5-DC8C-0D36-2459-233F62C8B84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FC1BA13-3F0F-4385-DBD0-2F2F171E258D}"/>
              </a:ext>
            </a:extLst>
          </p:cNvPr>
          <p:cNvSpPr>
            <a:spLocks noGrp="1"/>
          </p:cNvSpPr>
          <p:nvPr>
            <p:ph type="sldNum" sz="quarter" idx="12"/>
          </p:nvPr>
        </p:nvSpPr>
        <p:spPr/>
        <p:txBody>
          <a:bodyPr/>
          <a:lstStyle/>
          <a:p>
            <a:fld id="{196A61CA-0502-4EE4-9724-96EA822543E5}" type="slidenum">
              <a:rPr lang="en-US" smtClean="0"/>
              <a:t>2</a:t>
            </a:fld>
            <a:endParaRPr lang="en-US"/>
          </a:p>
        </p:txBody>
      </p:sp>
    </p:spTree>
    <p:extLst>
      <p:ext uri="{BB962C8B-B14F-4D97-AF65-F5344CB8AC3E}">
        <p14:creationId xmlns:p14="http://schemas.microsoft.com/office/powerpoint/2010/main" val="1027000774"/>
      </p:ext>
    </p:extLst>
  </p:cSld>
  <p:clrMapOvr>
    <a:masterClrMapping/>
  </p:clrMapOvr>
  <p:transition advTm="5294">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78ED2-6FC7-79E4-7D92-041951D31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F1CDA-0AF1-A2CD-5B6B-B013CC7E99C4}"/>
              </a:ext>
            </a:extLst>
          </p:cNvPr>
          <p:cNvSpPr>
            <a:spLocks noGrp="1"/>
          </p:cNvSpPr>
          <p:nvPr>
            <p:ph type="title"/>
          </p:nvPr>
        </p:nvSpPr>
        <p:spPr>
          <a:xfrm>
            <a:off x="3794585" y="577655"/>
            <a:ext cx="3234290" cy="716339"/>
          </a:xfrm>
        </p:spPr>
        <p:txBody>
          <a:bodyPr>
            <a:normAutofit fontScale="90000"/>
          </a:bodyPr>
          <a:lstStyle/>
          <a:p>
            <a:r>
              <a:rPr lang="en-US" dirty="0"/>
              <a:t>Python</a:t>
            </a:r>
          </a:p>
        </p:txBody>
      </p:sp>
      <p:sp>
        <p:nvSpPr>
          <p:cNvPr id="4" name="Content Placeholder 3">
            <a:extLst>
              <a:ext uri="{FF2B5EF4-FFF2-40B4-BE49-F238E27FC236}">
                <a16:creationId xmlns:a16="http://schemas.microsoft.com/office/drawing/2014/main" id="{20A05E38-8E7A-D295-C3C1-FD838329EB62}"/>
              </a:ext>
            </a:extLst>
          </p:cNvPr>
          <p:cNvSpPr>
            <a:spLocks noGrp="1"/>
          </p:cNvSpPr>
          <p:nvPr>
            <p:ph idx="1"/>
          </p:nvPr>
        </p:nvSpPr>
        <p:spPr>
          <a:xfrm>
            <a:off x="211195" y="1482812"/>
            <a:ext cx="11978822" cy="5358841"/>
          </a:xfrm>
        </p:spPr>
        <p:txBody>
          <a:bodyPr vert="horz" lIns="91440" tIns="45720" rIns="91440" bIns="45720" rtlCol="0" anchor="t">
            <a:normAutofit/>
          </a:bodyPr>
          <a:lstStyle/>
          <a:p>
            <a:r>
              <a:rPr lang="en-US" dirty="0">
                <a:ea typeface="+mn-lt"/>
                <a:cs typeface="+mn-lt"/>
              </a:rPr>
              <a:t>Python is a high-level, easy-to-learn programming language used in web development, artificial intelligence, data science, and automation because of its simple and readable syntax, along with being open-source and cross-platform, meaning it works on Windows, Mac, and Linux systems. It is widely chosen by beginners and professionals due to its flexibility and large library support, which makes development faster and more efficient.</a:t>
            </a:r>
          </a:p>
          <a:p>
            <a:r>
              <a:rPr lang="en-US" dirty="0">
                <a:ea typeface="+mn-lt"/>
                <a:cs typeface="+mn-lt"/>
              </a:rPr>
              <a:t>To install Python, first go to the official website </a:t>
            </a:r>
            <a:r>
              <a:rPr lang="en-US" b="1" dirty="0">
                <a:ea typeface="+mn-lt"/>
                <a:cs typeface="+mn-lt"/>
              </a:rPr>
              <a:t>python.org</a:t>
            </a:r>
            <a:r>
              <a:rPr lang="en-US" dirty="0">
                <a:ea typeface="+mn-lt"/>
                <a:cs typeface="+mn-lt"/>
              </a:rPr>
              <a:t>, then download the latest version suitable for your system, run the installer file, and make sure to select the option </a:t>
            </a:r>
            <a:r>
              <a:rPr lang="en-US" b="1" dirty="0">
                <a:ea typeface="+mn-lt"/>
                <a:cs typeface="+mn-lt"/>
              </a:rPr>
              <a:t>“Add Python to PATH”</a:t>
            </a:r>
            <a:r>
              <a:rPr lang="en-US" dirty="0">
                <a:ea typeface="+mn-lt"/>
                <a:cs typeface="+mn-lt"/>
              </a:rPr>
              <a:t> before clicking install. After installation is complete, Python can be verified and used from the command line or IDLE editor to start coding immediately. </a:t>
            </a:r>
            <a:endParaRPr lang="en-US" dirty="0"/>
          </a:p>
          <a:p>
            <a:endParaRPr lang="en-US" dirty="0"/>
          </a:p>
        </p:txBody>
      </p:sp>
    </p:spTree>
    <p:extLst>
      <p:ext uri="{BB962C8B-B14F-4D97-AF65-F5344CB8AC3E}">
        <p14:creationId xmlns:p14="http://schemas.microsoft.com/office/powerpoint/2010/main" val="2643627440"/>
      </p:ext>
    </p:extLst>
  </p:cSld>
  <p:clrMapOvr>
    <a:masterClrMapping/>
  </p:clrMapOvr>
  <p:transition advTm="5294">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7367" y="236700"/>
            <a:ext cx="9209550" cy="889592"/>
          </a:xfrm>
        </p:spPr>
        <p:txBody>
          <a:bodyPr/>
          <a:lstStyle/>
          <a:p>
            <a:r>
              <a:rPr lang="en-US"/>
              <a:t>  CNN</a:t>
            </a:r>
          </a:p>
        </p:txBody>
      </p:sp>
      <p:sp>
        <p:nvSpPr>
          <p:cNvPr id="5" name="Content Placeholder 4"/>
          <p:cNvSpPr>
            <a:spLocks noGrp="1"/>
          </p:cNvSpPr>
          <p:nvPr>
            <p:ph sz="half" idx="1"/>
          </p:nvPr>
        </p:nvSpPr>
        <p:spPr>
          <a:xfrm>
            <a:off x="297542" y="1344827"/>
            <a:ext cx="11904390" cy="5409905"/>
          </a:xfrm>
        </p:spPr>
        <p:txBody>
          <a:bodyPr vert="horz" lIns="91440" tIns="45720" rIns="91440" bIns="45720" rtlCol="0" anchor="t">
            <a:normAutofit/>
          </a:bodyPr>
          <a:lstStyle/>
          <a:p>
            <a:r>
              <a:rPr lang="en-US">
                <a:ea typeface="+mn-lt"/>
                <a:cs typeface="+mn-lt"/>
              </a:rPr>
              <a:t>A </a:t>
            </a:r>
            <a:r>
              <a:rPr lang="en-US" b="1">
                <a:ea typeface="+mn-lt"/>
                <a:cs typeface="+mn-lt"/>
              </a:rPr>
              <a:t>Convolutional Neural Network (CNN)</a:t>
            </a:r>
            <a:r>
              <a:rPr lang="en-US">
                <a:ea typeface="+mn-lt"/>
                <a:cs typeface="+mn-lt"/>
              </a:rPr>
              <a:t> is a deep learning model mainly used for processing </a:t>
            </a:r>
            <a:r>
              <a:rPr lang="en-US" b="1">
                <a:ea typeface="+mn-lt"/>
                <a:cs typeface="+mn-lt"/>
              </a:rPr>
              <a:t>images and visual data</a:t>
            </a:r>
            <a:r>
              <a:rPr lang="en-US">
                <a:ea typeface="+mn-lt"/>
                <a:cs typeface="+mn-lt"/>
              </a:rPr>
              <a:t>, where it automatically learns important features such as edges, shapes, textures, and patterns directly from raw input without manual feature engineering. It works by passing the image through multiple layers that gradually extract more complex information, making it highly effective for tasks like image classification, object detection, and recognition.</a:t>
            </a:r>
          </a:p>
          <a:p>
            <a:r>
              <a:rPr lang="en-US">
                <a:ea typeface="+mn-lt"/>
                <a:cs typeface="+mn-lt"/>
              </a:rPr>
              <a:t>The main structure of a CNN includes three key </a:t>
            </a:r>
            <a:r>
              <a:rPr lang="en-US" err="1">
                <a:ea typeface="+mn-lt"/>
                <a:cs typeface="+mn-lt"/>
              </a:rPr>
              <a:t>layers</a:t>
            </a:r>
            <a:r>
              <a:rPr lang="en-US">
                <a:ea typeface="+mn-lt"/>
                <a:cs typeface="+mn-lt"/>
              </a:rPr>
              <a:t>: the </a:t>
            </a:r>
            <a:r>
              <a:rPr lang="en-US" b="1">
                <a:ea typeface="+mn-lt"/>
                <a:cs typeface="+mn-lt"/>
              </a:rPr>
              <a:t>Convolution Layer</a:t>
            </a:r>
            <a:r>
              <a:rPr lang="en-US">
                <a:ea typeface="+mn-lt"/>
                <a:cs typeface="+mn-lt"/>
              </a:rPr>
              <a:t>, which applies filters to extract features like edges and patterns; the </a:t>
            </a:r>
            <a:r>
              <a:rPr lang="en-US" b="1">
                <a:ea typeface="+mn-lt"/>
                <a:cs typeface="+mn-lt"/>
              </a:rPr>
              <a:t>Pooling Layer</a:t>
            </a:r>
            <a:r>
              <a:rPr lang="en-US">
                <a:ea typeface="+mn-lt"/>
                <a:cs typeface="+mn-lt"/>
              </a:rPr>
              <a:t>, which reduces the spatial size of feature maps to make computation faster and reduce overfitting; and the </a:t>
            </a:r>
            <a:r>
              <a:rPr lang="en-US" b="1">
                <a:ea typeface="+mn-lt"/>
                <a:cs typeface="+mn-lt"/>
              </a:rPr>
              <a:t>Fully Connected Layer</a:t>
            </a:r>
            <a:r>
              <a:rPr lang="en-US">
                <a:ea typeface="+mn-lt"/>
                <a:cs typeface="+mn-lt"/>
              </a:rPr>
              <a:t>, which combines all extracted features to produce the final output or prediction. These layers work together in a pipeline where early layers detect simple features and deeper layers capture more complex patterns for accurate decision-making.</a:t>
            </a:r>
            <a:endParaRPr lang="en-US"/>
          </a:p>
        </p:txBody>
      </p:sp>
    </p:spTree>
    <p:extLst>
      <p:ext uri="{BB962C8B-B14F-4D97-AF65-F5344CB8AC3E}">
        <p14:creationId xmlns:p14="http://schemas.microsoft.com/office/powerpoint/2010/main" val="223730991"/>
      </p:ext>
    </p:extLst>
  </p:cSld>
  <p:clrMapOvr>
    <a:masterClrMapping/>
  </p:clrMapOvr>
  <p:transition advTm="5294">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681" y="277764"/>
            <a:ext cx="10179377" cy="744792"/>
          </a:xfrm>
        </p:spPr>
        <p:txBody>
          <a:bodyPr/>
          <a:lstStyle/>
          <a:p>
            <a:r>
              <a:rPr lang="en-US" dirty="0">
                <a:ea typeface="+mj-lt"/>
                <a:cs typeface="+mj-lt"/>
              </a:rPr>
              <a:t>  Regression Model (Forward      Propagation)</a:t>
            </a:r>
            <a:br>
              <a:rPr lang="en-US" dirty="0">
                <a:ea typeface="+mj-lt"/>
                <a:cs typeface="+mj-lt"/>
              </a:rPr>
            </a:br>
            <a:endParaRPr lang="en-US" dirty="0"/>
          </a:p>
        </p:txBody>
      </p:sp>
      <p:sp>
        <p:nvSpPr>
          <p:cNvPr id="13" name="Content Placeholder 12">
            <a:extLst>
              <a:ext uri="{FF2B5EF4-FFF2-40B4-BE49-F238E27FC236}">
                <a16:creationId xmlns:a16="http://schemas.microsoft.com/office/drawing/2014/main" id="{79578199-6ED0-84DE-EA7F-91FD8DD7F2E0}"/>
              </a:ext>
            </a:extLst>
          </p:cNvPr>
          <p:cNvSpPr>
            <a:spLocks noGrp="1"/>
          </p:cNvSpPr>
          <p:nvPr>
            <p:ph sz="half" idx="1"/>
          </p:nvPr>
        </p:nvSpPr>
        <p:spPr>
          <a:xfrm>
            <a:off x="453681" y="1740310"/>
            <a:ext cx="10987400" cy="4834118"/>
          </a:xfrm>
        </p:spPr>
        <p:txBody>
          <a:bodyPr vert="horz" lIns="91440" tIns="45720" rIns="91440" bIns="45720" rtlCol="0" anchor="t">
            <a:normAutofit/>
          </a:bodyPr>
          <a:lstStyle/>
          <a:p>
            <a:r>
              <a:rPr lang="en-US" dirty="0">
                <a:ea typeface="+mn-lt"/>
                <a:cs typeface="+mn-lt"/>
              </a:rPr>
              <a:t>Process where </a:t>
            </a:r>
            <a:r>
              <a:rPr lang="en-US" b="1" dirty="0">
                <a:ea typeface="+mn-lt"/>
                <a:cs typeface="+mn-lt"/>
              </a:rPr>
              <a:t>input data moves through the network to produce output</a:t>
            </a:r>
            <a:r>
              <a:rPr lang="en-US" dirty="0">
                <a:ea typeface="+mn-lt"/>
                <a:cs typeface="+mn-lt"/>
              </a:rPr>
              <a:t> </a:t>
            </a:r>
            <a:endParaRPr lang="en-US" dirty="0"/>
          </a:p>
          <a:p>
            <a:r>
              <a:rPr lang="en-US" dirty="0">
                <a:ea typeface="+mn-lt"/>
                <a:cs typeface="+mn-lt"/>
              </a:rPr>
              <a:t>Used to predict </a:t>
            </a:r>
            <a:r>
              <a:rPr lang="en-US" b="1" dirty="0">
                <a:ea typeface="+mn-lt"/>
                <a:cs typeface="+mn-lt"/>
              </a:rPr>
              <a:t>continuous values</a:t>
            </a:r>
            <a:r>
              <a:rPr lang="en-US" dirty="0">
                <a:ea typeface="+mn-lt"/>
                <a:cs typeface="+mn-lt"/>
              </a:rPr>
              <a:t> (e.g., price, temperature) </a:t>
            </a:r>
            <a:endParaRPr lang="en-US" dirty="0"/>
          </a:p>
          <a:p>
            <a:r>
              <a:rPr lang="en-US" dirty="0">
                <a:ea typeface="+mn-lt"/>
                <a:cs typeface="+mn-lt"/>
              </a:rPr>
              <a:t>No weight update happens (only computation step)</a:t>
            </a:r>
            <a:endParaRPr lang="en-US" dirty="0"/>
          </a:p>
          <a:p>
            <a:r>
              <a:rPr lang="en-US" b="1" dirty="0">
                <a:ea typeface="+mn-lt"/>
                <a:cs typeface="+mn-lt"/>
              </a:rPr>
              <a:t>Mathematical Representation:</a:t>
            </a:r>
            <a:endParaRPr lang="en-US" dirty="0"/>
          </a:p>
          <a:p>
            <a:r>
              <a:rPr lang="en-US" dirty="0">
                <a:ea typeface="+mn-lt"/>
                <a:cs typeface="+mn-lt"/>
              </a:rPr>
              <a:t>Z=WX+BZ</a:t>
            </a:r>
            <a:endParaRPr lang="en-US" dirty="0"/>
          </a:p>
          <a:p>
            <a:r>
              <a:rPr lang="en-US" b="1" dirty="0">
                <a:ea typeface="+mn-lt"/>
                <a:cs typeface="+mn-lt"/>
              </a:rPr>
              <a:t>Output Layer (Regression):</a:t>
            </a:r>
            <a:endParaRPr lang="en-US" dirty="0"/>
          </a:p>
          <a:p>
            <a:r>
              <a:rPr lang="en-US" dirty="0">
                <a:ea typeface="+mn-lt"/>
                <a:cs typeface="+mn-lt"/>
              </a:rPr>
              <a:t>Uses </a:t>
            </a:r>
            <a:r>
              <a:rPr lang="en-US" b="1" dirty="0">
                <a:ea typeface="+mn-lt"/>
                <a:cs typeface="+mn-lt"/>
              </a:rPr>
              <a:t>linear activation function</a:t>
            </a:r>
            <a:r>
              <a:rPr lang="en-US" dirty="0">
                <a:ea typeface="+mn-lt"/>
                <a:cs typeface="+mn-lt"/>
              </a:rPr>
              <a:t> </a:t>
            </a:r>
            <a:endParaRPr lang="en-US" dirty="0"/>
          </a:p>
          <a:p>
            <a:r>
              <a:rPr lang="en-US" dirty="0">
                <a:ea typeface="+mn-lt"/>
                <a:cs typeface="+mn-lt"/>
              </a:rPr>
              <a:t>Produces a </a:t>
            </a:r>
            <a:r>
              <a:rPr lang="en-US" b="1" dirty="0">
                <a:ea typeface="+mn-lt"/>
                <a:cs typeface="+mn-lt"/>
              </a:rPr>
              <a:t>real numeric value</a:t>
            </a:r>
            <a:endParaRPr lang="en-US" dirty="0"/>
          </a:p>
          <a:p>
            <a:r>
              <a:rPr lang="en-US" b="1" dirty="0">
                <a:ea typeface="+mn-lt"/>
                <a:cs typeface="+mn-lt"/>
              </a:rPr>
              <a:t>Key Idea:</a:t>
            </a:r>
            <a:endParaRPr lang="en-US" dirty="0"/>
          </a:p>
          <a:p>
            <a:r>
              <a:rPr lang="en-US" dirty="0">
                <a:ea typeface="+mn-lt"/>
                <a:cs typeface="+mn-lt"/>
              </a:rPr>
              <a:t>CNN → extracts features from data </a:t>
            </a:r>
            <a:endParaRPr lang="en-US" dirty="0"/>
          </a:p>
          <a:p>
            <a:r>
              <a:rPr lang="en-US" dirty="0">
                <a:ea typeface="+mn-lt"/>
                <a:cs typeface="+mn-lt"/>
              </a:rPr>
              <a:t>Forward propagation → generates prediction </a:t>
            </a:r>
            <a:endParaRPr lang="en-US" dirty="0"/>
          </a:p>
          <a:p>
            <a:endParaRPr lang="en-US" dirty="0"/>
          </a:p>
          <a:p>
            <a:endParaRPr lang="en-US" dirty="0"/>
          </a:p>
        </p:txBody>
      </p:sp>
    </p:spTree>
    <p:extLst>
      <p:ext uri="{BB962C8B-B14F-4D97-AF65-F5344CB8AC3E}">
        <p14:creationId xmlns:p14="http://schemas.microsoft.com/office/powerpoint/2010/main" val="1989555738"/>
      </p:ext>
    </p:extLst>
  </p:cSld>
  <p:clrMapOvr>
    <a:masterClrMapping/>
  </p:clrMapOvr>
  <p:transition advTm="5294">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730" y="547396"/>
            <a:ext cx="10862701" cy="1165063"/>
          </a:xfrm>
        </p:spPr>
        <p:txBody>
          <a:bodyPr>
            <a:normAutofit fontScale="90000"/>
          </a:bodyPr>
          <a:lstStyle/>
          <a:p>
            <a:r>
              <a:rPr lang="en-US"/>
              <a:t>MINIST DATASET USED FOR CNN MODEL</a:t>
            </a:r>
            <a:br>
              <a:rPr lang="en-US"/>
            </a:br>
            <a:endParaRPr lang="en-US"/>
          </a:p>
        </p:txBody>
      </p:sp>
      <p:sp>
        <p:nvSpPr>
          <p:cNvPr id="6" name="Content Placeholder 5"/>
          <p:cNvSpPr>
            <a:spLocks noGrp="1"/>
          </p:cNvSpPr>
          <p:nvPr>
            <p:ph sz="half" idx="2"/>
          </p:nvPr>
        </p:nvSpPr>
        <p:spPr>
          <a:xfrm>
            <a:off x="250909" y="1713271"/>
            <a:ext cx="11782097" cy="4861157"/>
          </a:xfrm>
        </p:spPr>
        <p:txBody>
          <a:bodyPr vert="horz" lIns="91440" tIns="45720" rIns="91440" bIns="45720" rtlCol="0" anchor="t">
            <a:normAutofit/>
          </a:bodyPr>
          <a:lstStyle/>
          <a:p>
            <a:r>
              <a:rPr lang="en-US" dirty="0">
                <a:ea typeface="+mn-lt"/>
                <a:cs typeface="+mn-lt"/>
              </a:rPr>
              <a:t>The California Housing Dataset is a </a:t>
            </a:r>
            <a:r>
              <a:rPr lang="en-US" b="1" dirty="0">
                <a:ea typeface="+mn-lt"/>
                <a:cs typeface="+mn-lt"/>
              </a:rPr>
              <a:t>regression dataset</a:t>
            </a:r>
            <a:r>
              <a:rPr lang="en-US" dirty="0">
                <a:ea typeface="+mn-lt"/>
                <a:cs typeface="+mn-lt"/>
              </a:rPr>
              <a:t> used to predict house prices, based on data collected from the </a:t>
            </a:r>
            <a:r>
              <a:rPr lang="en-US" b="1" dirty="0">
                <a:ea typeface="+mn-lt"/>
                <a:cs typeface="+mn-lt"/>
              </a:rPr>
              <a:t>1990 U.S. Census</a:t>
            </a:r>
            <a:r>
              <a:rPr lang="en-US" dirty="0">
                <a:ea typeface="+mn-lt"/>
                <a:cs typeface="+mn-lt"/>
              </a:rPr>
              <a:t> . It contains </a:t>
            </a:r>
            <a:r>
              <a:rPr lang="en-US" b="1" dirty="0">
                <a:ea typeface="+mn-lt"/>
                <a:cs typeface="+mn-lt"/>
              </a:rPr>
              <a:t>20,640 samples with 8 input features</a:t>
            </a:r>
            <a:r>
              <a:rPr lang="en-US" dirty="0">
                <a:ea typeface="+mn-lt"/>
                <a:cs typeface="+mn-lt"/>
              </a:rPr>
              <a:t> such as median income, house age, average rooms, and population, and the target variable is the </a:t>
            </a:r>
            <a:r>
              <a:rPr lang="en-US" b="1" dirty="0">
                <a:ea typeface="+mn-lt"/>
                <a:cs typeface="+mn-lt"/>
              </a:rPr>
              <a:t>median house value (continuous output)</a:t>
            </a:r>
            <a:r>
              <a:rPr lang="en-US" dirty="0">
                <a:ea typeface="+mn-lt"/>
                <a:cs typeface="+mn-lt"/>
              </a:rPr>
              <a:t> . This dataset is widely available on platforms like Kaggle and can also be accessed using libraries like Scikit-learn and Keres. In comparison, the MNIST dataset is a </a:t>
            </a:r>
            <a:r>
              <a:rPr lang="en-US" b="1" dirty="0">
                <a:ea typeface="+mn-lt"/>
                <a:cs typeface="+mn-lt"/>
              </a:rPr>
              <a:t>classification dataset</a:t>
            </a:r>
            <a:r>
              <a:rPr lang="en-US" dirty="0">
                <a:ea typeface="+mn-lt"/>
                <a:cs typeface="+mn-lt"/>
              </a:rPr>
              <a:t> used for recognizing handwritten digits (0–9), containing </a:t>
            </a:r>
            <a:r>
              <a:rPr lang="en-US" b="1" dirty="0">
                <a:ea typeface="+mn-lt"/>
                <a:cs typeface="+mn-lt"/>
              </a:rPr>
              <a:t>70,000 grayscale images (28×28 pixels)</a:t>
            </a:r>
            <a:r>
              <a:rPr lang="en-US" dirty="0">
                <a:ea typeface="+mn-lt"/>
                <a:cs typeface="+mn-lt"/>
              </a:rPr>
              <a:t>. Together, these datasets are commonly used in machine learning where California Housing represents a </a:t>
            </a:r>
            <a:r>
              <a:rPr lang="en-US" b="1" dirty="0">
                <a:ea typeface="+mn-lt"/>
                <a:cs typeface="+mn-lt"/>
              </a:rPr>
              <a:t>regression problem</a:t>
            </a:r>
            <a:r>
              <a:rPr lang="en-US" dirty="0">
                <a:ea typeface="+mn-lt"/>
                <a:cs typeface="+mn-lt"/>
              </a:rPr>
              <a:t>, while MNIST represents a </a:t>
            </a:r>
            <a:r>
              <a:rPr lang="en-US" b="1" dirty="0">
                <a:ea typeface="+mn-lt"/>
                <a:cs typeface="+mn-lt"/>
              </a:rPr>
              <a:t>classification problem</a:t>
            </a:r>
            <a:r>
              <a:rPr lang="en-US" dirty="0">
                <a:ea typeface="+mn-lt"/>
                <a:cs typeface="+mn-lt"/>
              </a:rPr>
              <a:t>.</a:t>
            </a:r>
            <a:endParaRPr lang="en-US" b="1" dirty="0"/>
          </a:p>
        </p:txBody>
      </p:sp>
    </p:spTree>
    <p:extLst>
      <p:ext uri="{BB962C8B-B14F-4D97-AF65-F5344CB8AC3E}">
        <p14:creationId xmlns:p14="http://schemas.microsoft.com/office/powerpoint/2010/main" val="4135151317"/>
      </p:ext>
    </p:extLst>
  </p:cSld>
  <p:clrMapOvr>
    <a:masterClrMapping/>
  </p:clrMapOvr>
  <p:transition advTm="5294">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E738B-B2F7-1F2E-8DDD-CAACA8AB8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B3947-70C5-311E-E53B-F6968C863BCC}"/>
              </a:ext>
            </a:extLst>
          </p:cNvPr>
          <p:cNvSpPr>
            <a:spLocks noGrp="1"/>
          </p:cNvSpPr>
          <p:nvPr>
            <p:ph type="title"/>
          </p:nvPr>
        </p:nvSpPr>
        <p:spPr>
          <a:xfrm>
            <a:off x="500613" y="547396"/>
            <a:ext cx="10851818" cy="1165063"/>
          </a:xfrm>
        </p:spPr>
        <p:txBody>
          <a:bodyPr>
            <a:normAutofit fontScale="90000"/>
          </a:bodyPr>
          <a:lstStyle/>
          <a:p>
            <a:r>
              <a:rPr lang="en-US"/>
              <a:t>PANDAS</a:t>
            </a:r>
            <a:br>
              <a:rPr lang="en-US"/>
            </a:br>
            <a:endParaRPr lang="en-US"/>
          </a:p>
        </p:txBody>
      </p:sp>
      <p:sp>
        <p:nvSpPr>
          <p:cNvPr id="6" name="Content Placeholder 5">
            <a:extLst>
              <a:ext uri="{FF2B5EF4-FFF2-40B4-BE49-F238E27FC236}">
                <a16:creationId xmlns:a16="http://schemas.microsoft.com/office/drawing/2014/main" id="{7E726504-FCF6-7B70-4AB6-A3F7AFD9B29D}"/>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dirty="0">
                <a:ea typeface="+mn-lt"/>
                <a:cs typeface="+mn-lt"/>
              </a:rPr>
              <a:t>Pandas is an </a:t>
            </a:r>
            <a:r>
              <a:rPr lang="en-US" b="1" dirty="0">
                <a:ea typeface="+mn-lt"/>
                <a:cs typeface="+mn-lt"/>
              </a:rPr>
              <a:t>open-source Python library</a:t>
            </a:r>
            <a:r>
              <a:rPr lang="en-US" dirty="0">
                <a:ea typeface="+mn-lt"/>
                <a:cs typeface="+mn-lt"/>
              </a:rPr>
              <a:t> used for </a:t>
            </a:r>
            <a:r>
              <a:rPr lang="en-US" b="1" dirty="0">
                <a:ea typeface="+mn-lt"/>
                <a:cs typeface="+mn-lt"/>
              </a:rPr>
              <a:t>data analysis and manipulation</a:t>
            </a:r>
            <a:r>
              <a:rPr lang="en-US" dirty="0">
                <a:ea typeface="+mn-lt"/>
                <a:cs typeface="+mn-lt"/>
              </a:rPr>
              <a:t>, providing powerful data structures like </a:t>
            </a:r>
            <a:r>
              <a:rPr lang="en-US" b="1" dirty="0">
                <a:ea typeface="+mn-lt"/>
                <a:cs typeface="+mn-lt"/>
              </a:rPr>
              <a:t>Series (1D)</a:t>
            </a:r>
            <a:r>
              <a:rPr lang="en-US" dirty="0">
                <a:ea typeface="+mn-lt"/>
                <a:cs typeface="+mn-lt"/>
              </a:rPr>
              <a:t> and </a:t>
            </a:r>
            <a:r>
              <a:rPr lang="en-US" b="1" dirty="0">
                <a:ea typeface="+mn-lt"/>
                <a:cs typeface="+mn-lt"/>
              </a:rPr>
              <a:t>Data Frame (2D)</a:t>
            </a:r>
            <a:r>
              <a:rPr lang="en-US" dirty="0">
                <a:ea typeface="+mn-lt"/>
                <a:cs typeface="+mn-lt"/>
              </a:rPr>
              <a:t> to handle structured data similar to tables or spreadsheets . It is built on top of NumPy and allows users to easily </a:t>
            </a:r>
            <a:r>
              <a:rPr lang="en-US" b="1" dirty="0">
                <a:ea typeface="+mn-lt"/>
                <a:cs typeface="+mn-lt"/>
              </a:rPr>
              <a:t>clean, filter, transform, and analyze data</a:t>
            </a:r>
            <a:r>
              <a:rPr lang="en-US" dirty="0">
                <a:ea typeface="+mn-lt"/>
                <a:cs typeface="+mn-lt"/>
              </a:rPr>
              <a:t>, as well as import data from various sources such as Excel, CSV, SQL, and JSON files . Pandas is widely used in data science because it simplifies working with large datasets and supports operations like merging, grouping, and handling missing values efficiently .</a:t>
            </a:r>
            <a:endParaRPr lang="en-US" dirty="0"/>
          </a:p>
        </p:txBody>
      </p:sp>
    </p:spTree>
    <p:extLst>
      <p:ext uri="{BB962C8B-B14F-4D97-AF65-F5344CB8AC3E}">
        <p14:creationId xmlns:p14="http://schemas.microsoft.com/office/powerpoint/2010/main" val="1285865866"/>
      </p:ext>
    </p:extLst>
  </p:cSld>
  <p:clrMapOvr>
    <a:masterClrMapping/>
  </p:clrMapOvr>
  <p:transition advTm="5294">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48115-D619-280F-0CA8-DE745207C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E170F-938D-59DF-CF7F-76747386FF83}"/>
              </a:ext>
            </a:extLst>
          </p:cNvPr>
          <p:cNvSpPr>
            <a:spLocks noGrp="1"/>
          </p:cNvSpPr>
          <p:nvPr>
            <p:ph type="title"/>
          </p:nvPr>
        </p:nvSpPr>
        <p:spPr>
          <a:xfrm>
            <a:off x="467964" y="547396"/>
            <a:ext cx="11145656" cy="1165063"/>
          </a:xfrm>
        </p:spPr>
        <p:txBody>
          <a:bodyPr>
            <a:normAutofit fontScale="90000"/>
          </a:bodyPr>
          <a:lstStyle/>
          <a:p>
            <a:r>
              <a:rPr lang="en-US"/>
              <a:t>NUMPY</a:t>
            </a:r>
            <a:br>
              <a:rPr lang="en-US"/>
            </a:br>
            <a:endParaRPr lang="en-US"/>
          </a:p>
        </p:txBody>
      </p:sp>
      <p:sp>
        <p:nvSpPr>
          <p:cNvPr id="6" name="Content Placeholder 5">
            <a:extLst>
              <a:ext uri="{FF2B5EF4-FFF2-40B4-BE49-F238E27FC236}">
                <a16:creationId xmlns:a16="http://schemas.microsoft.com/office/drawing/2014/main" id="{65B717EE-1E00-0FD9-E326-28EBE1AAB669}"/>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dirty="0">
                <a:ea typeface="+mn-lt"/>
                <a:cs typeface="+mn-lt"/>
              </a:rPr>
              <a:t>NumPy (Numerical Python) is a </a:t>
            </a:r>
            <a:r>
              <a:rPr lang="en-US" b="1" dirty="0">
                <a:ea typeface="+mn-lt"/>
                <a:cs typeface="+mn-lt"/>
              </a:rPr>
              <a:t>fundamental Python library for numerical computing</a:t>
            </a:r>
            <a:r>
              <a:rPr lang="en-US" dirty="0">
                <a:ea typeface="+mn-lt"/>
                <a:cs typeface="+mn-lt"/>
              </a:rPr>
              <a:t>, providing support for </a:t>
            </a:r>
            <a:r>
              <a:rPr lang="en-US" b="1" dirty="0">
                <a:ea typeface="+mn-lt"/>
                <a:cs typeface="+mn-lt"/>
              </a:rPr>
              <a:t>large multi-dimensional arrays and matrices</a:t>
            </a:r>
            <a:r>
              <a:rPr lang="en-US" dirty="0">
                <a:ea typeface="+mn-lt"/>
                <a:cs typeface="+mn-lt"/>
              </a:rPr>
              <a:t> along with a wide range of mathematical functions to operate on them . Its core structure, the </a:t>
            </a:r>
            <a:r>
              <a:rPr lang="en-US" b="1" dirty="0">
                <a:ea typeface="+mn-lt"/>
                <a:cs typeface="+mn-lt"/>
              </a:rPr>
              <a:t>ND array</a:t>
            </a:r>
            <a:r>
              <a:rPr lang="en-US" dirty="0">
                <a:ea typeface="+mn-lt"/>
                <a:cs typeface="+mn-lt"/>
              </a:rPr>
              <a:t>, allows fast and efficient computations compared to standard Python lists, making it ideal for scientific and mathematical operations . NumPy is widely used in fields like machine learning, engineering, and research, and it also serves as the foundation for many other libraries, including Pandas </a:t>
            </a:r>
            <a:endParaRPr lang="en-US" dirty="0"/>
          </a:p>
        </p:txBody>
      </p:sp>
    </p:spTree>
    <p:extLst>
      <p:ext uri="{BB962C8B-B14F-4D97-AF65-F5344CB8AC3E}">
        <p14:creationId xmlns:p14="http://schemas.microsoft.com/office/powerpoint/2010/main" val="1361701747"/>
      </p:ext>
    </p:extLst>
  </p:cSld>
  <p:clrMapOvr>
    <a:masterClrMapping/>
  </p:clrMapOvr>
  <p:transition advTm="5294">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F868-8FCF-8071-E61F-CF11A38DC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C6479-D40D-9F1C-0067-343DD134662B}"/>
              </a:ext>
            </a:extLst>
          </p:cNvPr>
          <p:cNvSpPr>
            <a:spLocks noGrp="1"/>
          </p:cNvSpPr>
          <p:nvPr>
            <p:ph type="title"/>
          </p:nvPr>
        </p:nvSpPr>
        <p:spPr>
          <a:xfrm>
            <a:off x="500613" y="547396"/>
            <a:ext cx="10851818" cy="1165063"/>
          </a:xfrm>
        </p:spPr>
        <p:txBody>
          <a:bodyPr>
            <a:normAutofit fontScale="90000"/>
          </a:bodyPr>
          <a:lstStyle/>
          <a:p>
            <a:r>
              <a:rPr lang="en-US" b="1">
                <a:ea typeface="+mj-lt"/>
                <a:cs typeface="+mj-lt"/>
              </a:rPr>
              <a:t>Matplotlib </a:t>
            </a:r>
            <a:br>
              <a:rPr lang="en-US"/>
            </a:br>
            <a:endParaRPr lang="en-US"/>
          </a:p>
        </p:txBody>
      </p:sp>
      <p:sp>
        <p:nvSpPr>
          <p:cNvPr id="6" name="Content Placeholder 5">
            <a:extLst>
              <a:ext uri="{FF2B5EF4-FFF2-40B4-BE49-F238E27FC236}">
                <a16:creationId xmlns:a16="http://schemas.microsoft.com/office/drawing/2014/main" id="{4653E0FE-FB2A-4181-75F4-B278F27D1D4E}"/>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a:ea typeface="+mn-lt"/>
                <a:cs typeface="+mn-lt"/>
              </a:rPr>
              <a:t>Matplotlib is an </a:t>
            </a:r>
            <a:r>
              <a:rPr lang="en-US" b="1">
                <a:ea typeface="+mn-lt"/>
                <a:cs typeface="+mn-lt"/>
              </a:rPr>
              <a:t>open-source Python library</a:t>
            </a:r>
            <a:r>
              <a:rPr lang="en-US">
                <a:ea typeface="+mn-lt"/>
                <a:cs typeface="+mn-lt"/>
              </a:rPr>
              <a:t> used for </a:t>
            </a:r>
            <a:r>
              <a:rPr lang="en-US" b="1">
                <a:ea typeface="+mn-lt"/>
                <a:cs typeface="+mn-lt"/>
              </a:rPr>
              <a:t>data visualization and plotting graphs</a:t>
            </a:r>
            <a:r>
              <a:rPr lang="en-US">
                <a:ea typeface="+mn-lt"/>
                <a:cs typeface="+mn-lt"/>
              </a:rPr>
              <a:t>, allowing users to create a wide variety of visualizations such as line charts, bar graphs, histograms, scatter plots, and 3D plots . It provides both simple and advanced tools to convert data into clear visual representations, making it easier to understand patterns, trends, and relationships . Matplotlib works seamlessly with libraries like NumPy and Pandas and can generate </a:t>
            </a:r>
            <a:r>
              <a:rPr lang="en-US" b="1">
                <a:ea typeface="+mn-lt"/>
                <a:cs typeface="+mn-lt"/>
              </a:rPr>
              <a:t>static, animated, and interactive graphs</a:t>
            </a:r>
            <a:r>
              <a:rPr lang="en-US">
                <a:ea typeface="+mn-lt"/>
                <a:cs typeface="+mn-lt"/>
              </a:rPr>
              <a:t> across different platforms . It is widely used in data science, research, and machine learning for creating </a:t>
            </a:r>
            <a:r>
              <a:rPr lang="en-US" b="1">
                <a:ea typeface="+mn-lt"/>
                <a:cs typeface="+mn-lt"/>
              </a:rPr>
              <a:t>high-quality and customizable visual outputs</a:t>
            </a:r>
            <a:r>
              <a:rPr lang="en-US">
                <a:ea typeface="+mn-lt"/>
                <a:cs typeface="+mn-lt"/>
              </a:rPr>
              <a:t> </a:t>
            </a:r>
            <a:endParaRPr lang="en-US"/>
          </a:p>
        </p:txBody>
      </p:sp>
    </p:spTree>
    <p:extLst>
      <p:ext uri="{BB962C8B-B14F-4D97-AF65-F5344CB8AC3E}">
        <p14:creationId xmlns:p14="http://schemas.microsoft.com/office/powerpoint/2010/main" val="4120281663"/>
      </p:ext>
    </p:extLst>
  </p:cSld>
  <p:clrMapOvr>
    <a:masterClrMapping/>
  </p:clrMapOvr>
  <p:transition advTm="5294">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6B800-B4A5-86FC-9B63-A4E8F679B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50DEA-00E9-3E3D-8D90-921E4339741B}"/>
              </a:ext>
            </a:extLst>
          </p:cNvPr>
          <p:cNvSpPr>
            <a:spLocks noGrp="1"/>
          </p:cNvSpPr>
          <p:nvPr>
            <p:ph type="title"/>
          </p:nvPr>
        </p:nvSpPr>
        <p:spPr>
          <a:xfrm>
            <a:off x="489730" y="547396"/>
            <a:ext cx="7402876" cy="1165063"/>
          </a:xfrm>
        </p:spPr>
        <p:txBody>
          <a:bodyPr>
            <a:normAutofit fontScale="90000"/>
          </a:bodyPr>
          <a:lstStyle/>
          <a:p>
            <a:r>
              <a:rPr lang="en-US" b="1"/>
              <a:t>Data Preparation &amp; Partitioning</a:t>
            </a:r>
            <a:endParaRPr lang="en-US"/>
          </a:p>
          <a:p>
            <a:endParaRPr lang="en-US"/>
          </a:p>
        </p:txBody>
      </p:sp>
      <p:sp>
        <p:nvSpPr>
          <p:cNvPr id="6" name="Content Placeholder 5">
            <a:extLst>
              <a:ext uri="{FF2B5EF4-FFF2-40B4-BE49-F238E27FC236}">
                <a16:creationId xmlns:a16="http://schemas.microsoft.com/office/drawing/2014/main" id="{94FDC972-7A99-06A7-BD03-026884D8664D}"/>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a:ea typeface="+mn-lt"/>
                <a:cs typeface="+mn-lt"/>
              </a:rPr>
              <a:t>Data preparation is the process of collecting, cleaning, transforming, and organizing raw data so it becomes </a:t>
            </a:r>
            <a:r>
              <a:rPr lang="en-US" err="1">
                <a:ea typeface="+mn-lt"/>
                <a:cs typeface="+mn-lt"/>
              </a:rPr>
              <a:t>suitable </a:t>
            </a:r>
            <a:r>
              <a:rPr lang="en-US">
                <a:ea typeface="+mn-lt"/>
                <a:cs typeface="+mn-lt"/>
              </a:rPr>
              <a:t>for machine learning models, ensuring the data is consistent, accurate, and meaningful for training. After preparation, partitioning (or splitting) is performed, where the dataset is divided into separate subsets such as training, validation, and testing sets; this helps the model learn patterns from one part of the data and be evaluated fairly on unseen data, reducing overfitting and improving generalization performance.</a:t>
            </a:r>
          </a:p>
        </p:txBody>
      </p:sp>
    </p:spTree>
    <p:extLst>
      <p:ext uri="{BB962C8B-B14F-4D97-AF65-F5344CB8AC3E}">
        <p14:creationId xmlns:p14="http://schemas.microsoft.com/office/powerpoint/2010/main" val="1483914557"/>
      </p:ext>
    </p:extLst>
  </p:cSld>
  <p:clrMapOvr>
    <a:masterClrMapping/>
  </p:clrMapOvr>
  <p:transition advTm="5294">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4F833-834F-8CC3-B8BD-2F9740417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5E756-703D-1E8C-42E8-27C68E141874}"/>
              </a:ext>
            </a:extLst>
          </p:cNvPr>
          <p:cNvSpPr>
            <a:spLocks noGrp="1"/>
          </p:cNvSpPr>
          <p:nvPr>
            <p:ph type="title"/>
          </p:nvPr>
        </p:nvSpPr>
        <p:spPr>
          <a:xfrm>
            <a:off x="1734807" y="485612"/>
            <a:ext cx="8823277" cy="856145"/>
          </a:xfrm>
        </p:spPr>
        <p:txBody>
          <a:bodyPr/>
          <a:lstStyle/>
          <a:p>
            <a:r>
              <a:rPr lang="en-US">
                <a:ea typeface="+mj-lt"/>
                <a:cs typeface="+mj-lt"/>
              </a:rPr>
              <a:t>Model Architecture &amp; Training</a:t>
            </a:r>
            <a:endParaRPr lang="en-US"/>
          </a:p>
        </p:txBody>
      </p:sp>
      <p:sp>
        <p:nvSpPr>
          <p:cNvPr id="6" name="Content Placeholder 5">
            <a:extLst>
              <a:ext uri="{FF2B5EF4-FFF2-40B4-BE49-F238E27FC236}">
                <a16:creationId xmlns:a16="http://schemas.microsoft.com/office/drawing/2014/main" id="{5B3E3E29-FBE0-6055-C811-C66CFDC22B49}"/>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dirty="0">
                <a:ea typeface="+mn-lt"/>
                <a:cs typeface="+mn-lt"/>
              </a:rPr>
              <a:t>The given code creates a </a:t>
            </a:r>
            <a:r>
              <a:rPr lang="en-US" b="1" dirty="0">
                <a:ea typeface="+mn-lt"/>
                <a:cs typeface="+mn-lt"/>
              </a:rPr>
              <a:t>Multi-Layer Perceptron Regressor (MLP Regressor)</a:t>
            </a:r>
            <a:r>
              <a:rPr lang="en-US" dirty="0">
                <a:ea typeface="+mn-lt"/>
                <a:cs typeface="+mn-lt"/>
              </a:rPr>
              <a:t> model for regression tasks, where the neural network has three hidden layers with 128, 64, and 32 neurons respectively, uses the </a:t>
            </a:r>
            <a:r>
              <a:rPr lang="en-US" dirty="0" err="1">
                <a:ea typeface="+mn-lt"/>
                <a:cs typeface="+mn-lt"/>
              </a:rPr>
              <a:t>ReLU</a:t>
            </a:r>
            <a:r>
              <a:rPr lang="en-US" dirty="0">
                <a:ea typeface="+mn-lt"/>
                <a:cs typeface="+mn-lt"/>
              </a:rPr>
              <a:t> activation function to introduce non-linearity, and is trained using the Adam optimizer, which adapts learning rates during training for faster convergence; the learning rate is set to 0.001 to control how much the model updates its weights each step, it is allowed to train for a maximum of 400 iterations, and a fixed random state of 42 ensures reproducible results, after which the model is fitted on the training data (X Train and Train) to learn patterns for predicting continuous outputs from inputs.</a:t>
            </a:r>
            <a:endParaRPr lang="en-US" dirty="0"/>
          </a:p>
        </p:txBody>
      </p:sp>
    </p:spTree>
    <p:extLst>
      <p:ext uri="{BB962C8B-B14F-4D97-AF65-F5344CB8AC3E}">
        <p14:creationId xmlns:p14="http://schemas.microsoft.com/office/powerpoint/2010/main" val="1059757420"/>
      </p:ext>
    </p:extLst>
  </p:cSld>
  <p:clrMapOvr>
    <a:masterClrMapping/>
  </p:clrMapOvr>
  <p:transition advTm="5294">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A6B5-4CF2-C9EB-498B-AB8489AFE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82DE1-366A-23C2-FF6D-170E863392F4}"/>
              </a:ext>
            </a:extLst>
          </p:cNvPr>
          <p:cNvSpPr>
            <a:spLocks noGrp="1"/>
          </p:cNvSpPr>
          <p:nvPr>
            <p:ph type="title"/>
          </p:nvPr>
        </p:nvSpPr>
        <p:spPr>
          <a:xfrm>
            <a:off x="457081" y="547396"/>
            <a:ext cx="10895350" cy="1165063"/>
          </a:xfrm>
        </p:spPr>
        <p:txBody>
          <a:bodyPr/>
          <a:lstStyle/>
          <a:p>
            <a:r>
              <a:rPr lang="en-US">
                <a:ea typeface="+mj-lt"/>
                <a:cs typeface="+mj-lt"/>
              </a:rPr>
              <a:t>Performance Evaluation &amp; Export</a:t>
            </a:r>
            <a:endParaRPr lang="en-US"/>
          </a:p>
        </p:txBody>
      </p:sp>
      <p:sp>
        <p:nvSpPr>
          <p:cNvPr id="6" name="Content Placeholder 5">
            <a:extLst>
              <a:ext uri="{FF2B5EF4-FFF2-40B4-BE49-F238E27FC236}">
                <a16:creationId xmlns:a16="http://schemas.microsoft.com/office/drawing/2014/main" id="{08905773-A05F-CA20-E0ED-FC90BD7DF989}"/>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b="1">
                <a:ea typeface="+mn-lt"/>
                <a:cs typeface="+mn-lt"/>
              </a:rPr>
              <a:t>MAE and R² score (together in one side):</a:t>
            </a:r>
            <a:r>
              <a:rPr lang="en-US">
                <a:ea typeface="+mn-lt"/>
                <a:cs typeface="+mn-lt"/>
              </a:rPr>
              <a:t> MAE (Mean Absolute Error) measures the </a:t>
            </a:r>
            <a:r>
              <a:rPr lang="en-US" i="1">
                <a:ea typeface="+mn-lt"/>
                <a:cs typeface="+mn-lt"/>
              </a:rPr>
              <a:t>average absolute difference</a:t>
            </a:r>
            <a:r>
              <a:rPr lang="en-US">
                <a:ea typeface="+mn-lt"/>
                <a:cs typeface="+mn-lt"/>
              </a:rPr>
              <a:t> between predicted and actual values, showing how far predictions are off in real units (lower is better), while R² score (Coefficient of Determination) measures how well the model </a:t>
            </a:r>
            <a:r>
              <a:rPr lang="en-US" i="1">
                <a:ea typeface="+mn-lt"/>
                <a:cs typeface="+mn-lt"/>
              </a:rPr>
              <a:t>explains the variance</a:t>
            </a:r>
            <a:r>
              <a:rPr lang="en-US">
                <a:ea typeface="+mn-lt"/>
                <a:cs typeface="+mn-lt"/>
              </a:rPr>
              <a:t> in the data, indicating how close the predictions are to the true trend (1 is perfect, 0 means no better than average prediction, and can be negative for poor models); together, MAE tells the size of prediction error and R² tells the goodness of fit of the model. </a:t>
            </a:r>
          </a:p>
        </p:txBody>
      </p:sp>
    </p:spTree>
    <p:extLst>
      <p:ext uri="{BB962C8B-B14F-4D97-AF65-F5344CB8AC3E}">
        <p14:creationId xmlns:p14="http://schemas.microsoft.com/office/powerpoint/2010/main" val="2319448342"/>
      </p:ext>
    </p:extLst>
  </p:cSld>
  <p:clrMapOvr>
    <a:masterClrMapping/>
  </p:clrMapOvr>
  <p:transition advTm="5294">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F049F-6FCD-F310-213F-ED3AC868D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8D291-9BF9-E0DE-3879-7835D764C7B1}"/>
              </a:ext>
            </a:extLst>
          </p:cNvPr>
          <p:cNvSpPr>
            <a:spLocks noGrp="1"/>
          </p:cNvSpPr>
          <p:nvPr>
            <p:ph type="title"/>
          </p:nvPr>
        </p:nvSpPr>
        <p:spPr>
          <a:xfrm>
            <a:off x="907211" y="406176"/>
            <a:ext cx="10895350" cy="847318"/>
          </a:xfrm>
        </p:spPr>
        <p:txBody>
          <a:bodyPr/>
          <a:lstStyle/>
          <a:p>
            <a:r>
              <a:rPr lang="en-US"/>
              <a:t> ​QNN(QUNATIZED NEURAL NETWORK)</a:t>
            </a:r>
          </a:p>
        </p:txBody>
      </p:sp>
      <p:sp>
        <p:nvSpPr>
          <p:cNvPr id="6" name="Content Placeholder 5">
            <a:extLst>
              <a:ext uri="{FF2B5EF4-FFF2-40B4-BE49-F238E27FC236}">
                <a16:creationId xmlns:a16="http://schemas.microsoft.com/office/drawing/2014/main" id="{06D8AF9B-1948-F2DB-EE07-9F2B27614CE6}"/>
              </a:ext>
            </a:extLst>
          </p:cNvPr>
          <p:cNvSpPr>
            <a:spLocks noGrp="1"/>
          </p:cNvSpPr>
          <p:nvPr>
            <p:ph sz="half" idx="2"/>
          </p:nvPr>
        </p:nvSpPr>
        <p:spPr>
          <a:xfrm>
            <a:off x="118518" y="1483788"/>
            <a:ext cx="11782097" cy="4861157"/>
          </a:xfrm>
        </p:spPr>
        <p:txBody>
          <a:bodyPr vert="horz" lIns="91440" tIns="45720" rIns="91440" bIns="45720" rtlCol="0" anchor="t">
            <a:normAutofit/>
          </a:bodyPr>
          <a:lstStyle/>
          <a:p>
            <a:r>
              <a:rPr lang="en-US">
                <a:ea typeface="+mn-lt"/>
                <a:cs typeface="+mn-lt"/>
              </a:rPr>
              <a:t>A QNN (Quantized Neural Network) INT16 model is a neural network where the weights, activations, or intermediate computations are represented using </a:t>
            </a:r>
            <a:r>
              <a:rPr lang="en-US" b="1">
                <a:ea typeface="+mn-lt"/>
                <a:cs typeface="+mn-lt"/>
              </a:rPr>
              <a:t>16-bit integers instead of 32-bit floating-point numbers</a:t>
            </a:r>
            <a:r>
              <a:rPr lang="en-US">
                <a:ea typeface="+mn-lt"/>
                <a:cs typeface="+mn-lt"/>
              </a:rPr>
              <a:t>, which reduces memory usage and increases computation speed while keeping better numerical precision than lower-bit formats like INT8 or INT4; in some hybrid setups, INT16 is often used for activations or accumulation while weights may be even lower-bit (like INT8) to balance accuracy and efficiency, making it suitable for hardware acceleration and edge deployment.</a:t>
            </a:r>
          </a:p>
          <a:p>
            <a:r>
              <a:rPr lang="en-US">
                <a:ea typeface="+mn-lt"/>
                <a:cs typeface="+mn-lt"/>
              </a:rPr>
              <a:t>The given Python workflow is used to train a </a:t>
            </a:r>
            <a:r>
              <a:rPr lang="en-US" b="1">
                <a:ea typeface="+mn-lt"/>
                <a:cs typeface="+mn-lt"/>
              </a:rPr>
              <a:t>machine learning regression model (</a:t>
            </a:r>
            <a:r>
              <a:rPr lang="en-US" b="1" err="1">
                <a:ea typeface="+mn-lt"/>
                <a:cs typeface="+mn-lt"/>
              </a:rPr>
              <a:t>MLPRegressor</a:t>
            </a:r>
            <a:r>
              <a:rPr lang="en-US" b="1">
                <a:ea typeface="+mn-lt"/>
                <a:cs typeface="+mn-lt"/>
              </a:rPr>
              <a:t>)</a:t>
            </a:r>
            <a:r>
              <a:rPr lang="en-US">
                <a:ea typeface="+mn-lt"/>
                <a:cs typeface="+mn-lt"/>
              </a:rPr>
              <a:t> on the California Housing dataset, where the data is first loaded, reduced to a single feature (</a:t>
            </a:r>
            <a:r>
              <a:rPr lang="en-US" b="1" err="1">
                <a:ea typeface="+mn-lt"/>
                <a:cs typeface="+mn-lt"/>
              </a:rPr>
              <a:t>MedInc</a:t>
            </a:r>
            <a:r>
              <a:rPr lang="en-US">
                <a:ea typeface="+mn-lt"/>
                <a:cs typeface="+mn-lt"/>
              </a:rPr>
              <a:t>) representing median income, and the target is the house value (</a:t>
            </a:r>
            <a:r>
              <a:rPr lang="en-US" b="1" err="1">
                <a:ea typeface="+mn-lt"/>
                <a:cs typeface="+mn-lt"/>
              </a:rPr>
              <a:t>MedHouseVal</a:t>
            </a:r>
            <a:r>
              <a:rPr lang="en-US">
                <a:ea typeface="+mn-lt"/>
                <a:cs typeface="+mn-lt"/>
              </a:rPr>
              <a:t>) scaled into dollars; the dataset is then split into training and testing sets to evaluate performance properly, followed by </a:t>
            </a:r>
            <a:r>
              <a:rPr lang="en-US" b="1" err="1">
                <a:ea typeface="+mn-lt"/>
                <a:cs typeface="+mn-lt"/>
              </a:rPr>
              <a:t>MinMax</a:t>
            </a:r>
            <a:r>
              <a:rPr lang="en-US" b="1">
                <a:ea typeface="+mn-lt"/>
                <a:cs typeface="+mn-lt"/>
              </a:rPr>
              <a:t> scaling</a:t>
            </a:r>
            <a:r>
              <a:rPr lang="en-US">
                <a:ea typeface="+mn-lt"/>
                <a:cs typeface="+mn-lt"/>
              </a:rPr>
              <a:t> to normalize the input feature between 0 and 1 for better neural network convergence, and finally a neural network model with two hidden layers (16 and 8 neurons) using </a:t>
            </a:r>
            <a:r>
              <a:rPr lang="en-US" err="1">
                <a:ea typeface="+mn-lt"/>
                <a:cs typeface="+mn-lt"/>
              </a:rPr>
              <a:t>ReLU</a:t>
            </a:r>
            <a:r>
              <a:rPr lang="en-US">
                <a:ea typeface="+mn-lt"/>
                <a:cs typeface="+mn-lt"/>
              </a:rPr>
              <a:t> activation and Adam optimizer is trained on the scaled data to learn the relationship between income and house prices through iterative weight updates, which is a standard supervised learning regression pipeline. </a:t>
            </a:r>
          </a:p>
          <a:p>
            <a:endParaRPr lang="en-US">
              <a:ea typeface="+mn-lt"/>
              <a:cs typeface="+mn-lt"/>
            </a:endParaRPr>
          </a:p>
        </p:txBody>
      </p:sp>
    </p:spTree>
    <p:extLst>
      <p:ext uri="{BB962C8B-B14F-4D97-AF65-F5344CB8AC3E}">
        <p14:creationId xmlns:p14="http://schemas.microsoft.com/office/powerpoint/2010/main" val="2164774307"/>
      </p:ext>
    </p:extLst>
  </p:cSld>
  <p:clrMapOvr>
    <a:masterClrMapping/>
  </p:clrMapOvr>
  <p:transition advTm="5294">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BB4B6-95A6-4CAD-A0D2-EBBCF2D05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43C8F-E349-8FEB-3010-BE2A2321526F}"/>
              </a:ext>
            </a:extLst>
          </p:cNvPr>
          <p:cNvSpPr>
            <a:spLocks noGrp="1"/>
          </p:cNvSpPr>
          <p:nvPr>
            <p:ph type="title"/>
          </p:nvPr>
        </p:nvSpPr>
        <p:spPr>
          <a:xfrm>
            <a:off x="388789" y="547396"/>
            <a:ext cx="10963642" cy="1152118"/>
          </a:xfrm>
        </p:spPr>
        <p:txBody>
          <a:bodyPr/>
          <a:lstStyle/>
          <a:p>
            <a:r>
              <a:rPr lang="en-US"/>
              <a:t>TANG NANO 9K</a:t>
            </a:r>
          </a:p>
        </p:txBody>
      </p:sp>
      <p:sp>
        <p:nvSpPr>
          <p:cNvPr id="6" name="Content Placeholder 5">
            <a:extLst>
              <a:ext uri="{FF2B5EF4-FFF2-40B4-BE49-F238E27FC236}">
                <a16:creationId xmlns:a16="http://schemas.microsoft.com/office/drawing/2014/main" id="{955F26BD-1A9A-9C43-7D8B-69BFB83D0CE4}"/>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a:ea typeface="+mn-lt"/>
                <a:cs typeface="+mn-lt"/>
              </a:rPr>
              <a:t>The </a:t>
            </a:r>
            <a:r>
              <a:rPr lang="en-US" b="1">
                <a:ea typeface="+mn-lt"/>
                <a:cs typeface="+mn-lt"/>
              </a:rPr>
              <a:t>Tang Nano 9K</a:t>
            </a:r>
            <a:r>
              <a:rPr lang="en-US">
                <a:ea typeface="+mn-lt"/>
                <a:cs typeface="+mn-lt"/>
              </a:rPr>
              <a:t> is centered around the Gowin GW1NR-9 FPGA, which organizes its 8,640 logic units into a high-performance fabric where </a:t>
            </a:r>
            <a:r>
              <a:rPr lang="en-US" b="1">
                <a:ea typeface="+mn-lt"/>
                <a:cs typeface="+mn-lt"/>
              </a:rPr>
              <a:t>LUT4s (4-input Look-Up Tables)</a:t>
            </a:r>
            <a:r>
              <a:rPr lang="en-US">
                <a:ea typeface="+mn-lt"/>
                <a:cs typeface="+mn-lt"/>
              </a:rPr>
              <a:t> act as the primary "slices" for executing combinational logic. These LUTs are paired with 6,480 dedicated </a:t>
            </a:r>
            <a:r>
              <a:rPr lang="en-US" b="1">
                <a:ea typeface="+mn-lt"/>
                <a:cs typeface="+mn-lt"/>
              </a:rPr>
              <a:t>Flip-Flops</a:t>
            </a:r>
            <a:r>
              <a:rPr lang="en-US">
                <a:ea typeface="+mn-lt"/>
                <a:cs typeface="+mn-lt"/>
              </a:rPr>
              <a:t> for sequential data storage, while memory-intensive tasks are handled by </a:t>
            </a:r>
            <a:r>
              <a:rPr lang="en-US" b="1">
                <a:ea typeface="+mn-lt"/>
                <a:cs typeface="+mn-lt"/>
              </a:rPr>
              <a:t>26 Block SRAM (B-SRAM)</a:t>
            </a:r>
            <a:r>
              <a:rPr lang="en-US">
                <a:ea typeface="+mn-lt"/>
                <a:cs typeface="+mn-lt"/>
              </a:rPr>
              <a:t> units providing 468 Kbits of fast, on-chip storage. For smaller, distributed memory needs, the board offers 17,280 bits of </a:t>
            </a:r>
            <a:r>
              <a:rPr lang="en-US" b="1">
                <a:ea typeface="+mn-lt"/>
                <a:cs typeface="+mn-lt"/>
              </a:rPr>
              <a:t>Shadow SRAM (S-SRAM)</a:t>
            </a:r>
            <a:r>
              <a:rPr lang="en-US">
                <a:ea typeface="+mn-lt"/>
                <a:cs typeface="+mn-lt"/>
              </a:rPr>
              <a:t>, which repurposes logic slices to act as temporary buffers. This internal architecture is further augmented by 20 dedicated </a:t>
            </a:r>
            <a:r>
              <a:rPr lang="en-US" b="1">
                <a:ea typeface="+mn-lt"/>
                <a:cs typeface="+mn-lt"/>
              </a:rPr>
              <a:t>18x18 multipliers</a:t>
            </a:r>
            <a:r>
              <a:rPr lang="en-US">
                <a:ea typeface="+mn-lt"/>
                <a:cs typeface="+mn-lt"/>
              </a:rPr>
              <a:t> (DSPs) for hardware acceleration of math functions, such as the matrix operations needed for your neural network, and an integrated </a:t>
            </a:r>
            <a:r>
              <a:rPr lang="en-US" b="1">
                <a:ea typeface="+mn-lt"/>
                <a:cs typeface="+mn-lt"/>
              </a:rPr>
              <a:t>64Mbit PSRAM</a:t>
            </a:r>
            <a:r>
              <a:rPr lang="en-US">
                <a:ea typeface="+mn-lt"/>
                <a:cs typeface="+mn-lt"/>
              </a:rPr>
              <a:t> that provides a massive external memory pool for running </a:t>
            </a:r>
            <a:r>
              <a:rPr lang="en-US" err="1">
                <a:ea typeface="+mn-lt"/>
                <a:cs typeface="+mn-lt"/>
              </a:rPr>
              <a:t>softcores</a:t>
            </a:r>
            <a:r>
              <a:rPr lang="en-US">
                <a:ea typeface="+mn-lt"/>
                <a:cs typeface="+mn-lt"/>
              </a:rPr>
              <a:t> like RISC-V.</a:t>
            </a:r>
          </a:p>
        </p:txBody>
      </p:sp>
    </p:spTree>
    <p:extLst>
      <p:ext uri="{BB962C8B-B14F-4D97-AF65-F5344CB8AC3E}">
        <p14:creationId xmlns:p14="http://schemas.microsoft.com/office/powerpoint/2010/main" val="2337194223"/>
      </p:ext>
    </p:extLst>
  </p:cSld>
  <p:clrMapOvr>
    <a:masterClrMapping/>
  </p:clrMapOvr>
  <p:transition advTm="5294">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C9C94-AEC0-2661-0B49-A372E3194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A9C77-B074-4C1C-6F70-042EC11DDE37}"/>
              </a:ext>
            </a:extLst>
          </p:cNvPr>
          <p:cNvSpPr>
            <a:spLocks noGrp="1"/>
          </p:cNvSpPr>
          <p:nvPr>
            <p:ph type="title"/>
          </p:nvPr>
        </p:nvSpPr>
        <p:spPr>
          <a:xfrm>
            <a:off x="457081" y="547396"/>
            <a:ext cx="10895350" cy="1165063"/>
          </a:xfrm>
        </p:spPr>
        <p:txBody>
          <a:bodyPr/>
          <a:lstStyle/>
          <a:p>
            <a:r>
              <a:rPr lang="en-US">
                <a:ea typeface="+mj-lt"/>
                <a:cs typeface="+mj-lt"/>
              </a:rPr>
              <a:t>VS Code Environment for Tang Nano 9K</a:t>
            </a:r>
            <a:endParaRPr lang="en-US"/>
          </a:p>
        </p:txBody>
      </p:sp>
      <p:sp>
        <p:nvSpPr>
          <p:cNvPr id="6" name="Content Placeholder 5">
            <a:extLst>
              <a:ext uri="{FF2B5EF4-FFF2-40B4-BE49-F238E27FC236}">
                <a16:creationId xmlns:a16="http://schemas.microsoft.com/office/drawing/2014/main" id="{8161F1CC-8761-572D-A47E-A0AC6D48A414}"/>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a:ea typeface="+mn-lt"/>
                <a:cs typeface="+mn-lt"/>
              </a:rPr>
              <a:t>Install </a:t>
            </a:r>
            <a:r>
              <a:rPr lang="en-US" b="1">
                <a:ea typeface="+mn-lt"/>
                <a:cs typeface="+mn-lt"/>
              </a:rPr>
              <a:t>"FPGA Toolchain" by </a:t>
            </a:r>
            <a:r>
              <a:rPr lang="en-US" b="1" err="1">
                <a:ea typeface="+mn-lt"/>
                <a:cs typeface="+mn-lt"/>
              </a:rPr>
              <a:t>Lushay</a:t>
            </a:r>
            <a:r>
              <a:rPr lang="en-US" b="1">
                <a:ea typeface="+mn-lt"/>
                <a:cs typeface="+mn-lt"/>
              </a:rPr>
              <a:t> Labs</a:t>
            </a:r>
            <a:r>
              <a:rPr lang="en-US">
                <a:ea typeface="+mn-lt"/>
                <a:cs typeface="+mn-lt"/>
              </a:rPr>
              <a:t> to enable one-click Synthesis, Place &amp; Route, and Flashing.</a:t>
            </a:r>
          </a:p>
          <a:p>
            <a:r>
              <a:rPr lang="en-US" b="1">
                <a:ea typeface="+mn-lt"/>
                <a:cs typeface="+mn-lt"/>
              </a:rPr>
              <a:t>OSS CAD Suite:</a:t>
            </a:r>
            <a:r>
              <a:rPr lang="en-US">
                <a:ea typeface="+mn-lt"/>
                <a:cs typeface="+mn-lt"/>
              </a:rPr>
              <a:t> Integrated support for </a:t>
            </a:r>
            <a:r>
              <a:rPr lang="en-US" b="1" err="1">
                <a:ea typeface="+mn-lt"/>
                <a:cs typeface="+mn-lt"/>
              </a:rPr>
              <a:t>Yosys</a:t>
            </a:r>
            <a:r>
              <a:rPr lang="en-US">
                <a:ea typeface="+mn-lt"/>
                <a:cs typeface="+mn-lt"/>
              </a:rPr>
              <a:t> (Synthesis) and </a:t>
            </a:r>
            <a:r>
              <a:rPr lang="en-US" b="1" err="1">
                <a:ea typeface="+mn-lt"/>
                <a:cs typeface="+mn-lt"/>
              </a:rPr>
              <a:t>Apicula</a:t>
            </a:r>
            <a:r>
              <a:rPr lang="en-US">
                <a:ea typeface="+mn-lt"/>
                <a:cs typeface="+mn-lt"/>
              </a:rPr>
              <a:t> (Gowin bitstream documentation) for a fully open-source workflow.</a:t>
            </a:r>
          </a:p>
          <a:p>
            <a:r>
              <a:rPr lang="en-US">
                <a:ea typeface="+mn-lt"/>
                <a:cs typeface="+mn-lt"/>
              </a:rPr>
              <a:t> INSTALL "</a:t>
            </a:r>
            <a:r>
              <a:rPr lang="en-US" err="1">
                <a:ea typeface="+mn-lt"/>
                <a:cs typeface="+mn-lt"/>
              </a:rPr>
              <a:t>GTKWave</a:t>
            </a:r>
            <a:r>
              <a:rPr lang="en-US">
                <a:ea typeface="+mn-lt"/>
                <a:cs typeface="+mn-lt"/>
              </a:rPr>
              <a:t> Runner" for Simulation</a:t>
            </a:r>
          </a:p>
          <a:p>
            <a:r>
              <a:rPr lang="en-US">
                <a:ea typeface="+mn-lt"/>
                <a:cs typeface="+mn-lt"/>
              </a:rPr>
              <a:t>Download </a:t>
            </a:r>
            <a:r>
              <a:rPr lang="en-US" b="1">
                <a:ea typeface="+mn-lt"/>
                <a:cs typeface="+mn-lt"/>
              </a:rPr>
              <a:t>Zadig</a:t>
            </a:r>
            <a:r>
              <a:rPr lang="en-US">
                <a:ea typeface="+mn-lt"/>
                <a:cs typeface="+mn-lt"/>
              </a:rPr>
              <a:t>.</a:t>
            </a:r>
          </a:p>
          <a:p>
            <a:r>
              <a:rPr lang="en-US">
                <a:ea typeface="+mn-lt"/>
                <a:cs typeface="+mn-lt"/>
              </a:rPr>
              <a:t>(JTAG Channel) for </a:t>
            </a:r>
            <a:r>
              <a:rPr lang="en-US" b="1">
                <a:ea typeface="+mn-lt"/>
                <a:cs typeface="+mn-lt"/>
              </a:rPr>
              <a:t>:</a:t>
            </a:r>
            <a:r>
              <a:rPr lang="en-US">
                <a:ea typeface="+mn-lt"/>
                <a:cs typeface="+mn-lt"/>
              </a:rPr>
              <a:t> </a:t>
            </a:r>
            <a:r>
              <a:rPr lang="en-US" b="1">
                <a:ea typeface="+mn-lt"/>
                <a:cs typeface="+mn-lt"/>
              </a:rPr>
              <a:t>Programming &amp; Debugging.</a:t>
            </a:r>
          </a:p>
          <a:p>
            <a:r>
              <a:rPr lang="en-US">
                <a:ea typeface="+mn-lt"/>
                <a:cs typeface="+mn-lt"/>
              </a:rPr>
              <a:t>UART Channel for Serial Communication.</a:t>
            </a:r>
            <a:endParaRPr lang="en-US"/>
          </a:p>
        </p:txBody>
      </p:sp>
    </p:spTree>
    <p:extLst>
      <p:ext uri="{BB962C8B-B14F-4D97-AF65-F5344CB8AC3E}">
        <p14:creationId xmlns:p14="http://schemas.microsoft.com/office/powerpoint/2010/main" val="2917158548"/>
      </p:ext>
    </p:extLst>
  </p:cSld>
  <p:clrMapOvr>
    <a:masterClrMapping/>
  </p:clrMapOvr>
  <p:transition advTm="5294">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61351-D953-F5E6-C2C6-7D5F33319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C16C1-2EE0-DDE3-0018-2E8B0AD7C5DF}"/>
              </a:ext>
            </a:extLst>
          </p:cNvPr>
          <p:cNvSpPr>
            <a:spLocks noGrp="1"/>
          </p:cNvSpPr>
          <p:nvPr>
            <p:ph type="title"/>
          </p:nvPr>
        </p:nvSpPr>
        <p:spPr>
          <a:xfrm>
            <a:off x="1111455" y="602532"/>
            <a:ext cx="9236028" cy="594430"/>
          </a:xfrm>
        </p:spPr>
        <p:txBody>
          <a:bodyPr>
            <a:normAutofit fontScale="90000"/>
          </a:bodyPr>
          <a:lstStyle/>
          <a:p>
            <a:r>
              <a:rPr lang="en-US"/>
              <a:t>UART</a:t>
            </a:r>
          </a:p>
        </p:txBody>
      </p:sp>
      <p:sp>
        <p:nvSpPr>
          <p:cNvPr id="6" name="Content Placeholder 5">
            <a:extLst>
              <a:ext uri="{FF2B5EF4-FFF2-40B4-BE49-F238E27FC236}">
                <a16:creationId xmlns:a16="http://schemas.microsoft.com/office/drawing/2014/main" id="{C09E7AAB-4E57-645E-4C5A-4ECD06DA463B}"/>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a:ea typeface="+mn-lt"/>
                <a:cs typeface="+mn-lt"/>
              </a:rPr>
              <a:t>UART is a serial communication protocol that uses only two wires: </a:t>
            </a:r>
            <a:r>
              <a:rPr lang="en-US" b="1">
                <a:ea typeface="+mn-lt"/>
                <a:cs typeface="+mn-lt"/>
              </a:rPr>
              <a:t>TX (Transmit)</a:t>
            </a:r>
            <a:r>
              <a:rPr lang="en-US">
                <a:ea typeface="+mn-lt"/>
                <a:cs typeface="+mn-lt"/>
              </a:rPr>
              <a:t> and </a:t>
            </a:r>
            <a:r>
              <a:rPr lang="en-US" b="1">
                <a:ea typeface="+mn-lt"/>
                <a:cs typeface="+mn-lt"/>
              </a:rPr>
              <a:t>RX (Receive)</a:t>
            </a:r>
            <a:r>
              <a:rPr lang="en-US">
                <a:ea typeface="+mn-lt"/>
                <a:cs typeface="+mn-lt"/>
              </a:rPr>
              <a:t>. On the Tang Nano 9K, these pins are internally connected to the </a:t>
            </a:r>
            <a:r>
              <a:rPr lang="en-US" b="1">
                <a:ea typeface="+mn-lt"/>
                <a:cs typeface="+mn-lt"/>
              </a:rPr>
              <a:t>BL702</a:t>
            </a:r>
            <a:r>
              <a:rPr lang="en-US">
                <a:ea typeface="+mn-lt"/>
                <a:cs typeface="+mn-lt"/>
              </a:rPr>
              <a:t> chip, which converts the signals to </a:t>
            </a:r>
            <a:r>
              <a:rPr lang="en-US" err="1">
                <a:ea typeface="+mn-lt"/>
                <a:cs typeface="+mn-lt"/>
              </a:rPr>
              <a:t>USB</a:t>
            </a:r>
            <a:r>
              <a:rPr lang="en-US">
                <a:ea typeface="+mn-lt"/>
                <a:cs typeface="+mn-lt"/>
              </a:rPr>
              <a:t> so they show up as a </a:t>
            </a:r>
            <a:r>
              <a:rPr lang="en-US" b="1">
                <a:ea typeface="+mn-lt"/>
                <a:cs typeface="+mn-lt"/>
              </a:rPr>
              <a:t>COM Port</a:t>
            </a:r>
            <a:r>
              <a:rPr lang="en-US">
                <a:ea typeface="+mn-lt"/>
                <a:cs typeface="+mn-lt"/>
              </a:rPr>
              <a:t> on your PC.</a:t>
            </a:r>
          </a:p>
          <a:p>
            <a:r>
              <a:rPr lang="en-US">
                <a:solidFill>
                  <a:srgbClr val="E3E3E3"/>
                </a:solidFill>
                <a:highlight>
                  <a:srgbClr val="1E1F20"/>
                </a:highlight>
                <a:ea typeface="+mn-lt"/>
                <a:cs typeface="+mn-lt"/>
              </a:rPr>
              <a:t>Implementation in  Verilog.</a:t>
            </a:r>
          </a:p>
          <a:p>
            <a:r>
              <a:rPr lang="en-US">
                <a:solidFill>
                  <a:srgbClr val="E3E3E3"/>
                </a:solidFill>
                <a:highlight>
                  <a:srgbClr val="1E1F20"/>
                </a:highlight>
                <a:ea typeface="+mn-lt"/>
                <a:cs typeface="+mn-lt"/>
              </a:rPr>
              <a:t>The baud rate in UART (Universal Asynchronous Receiver Transmitter) is the speed at which data is transmitted over a serial communication channel, measured in bits per second (bps). It defines how fast each bit is sent between the transmitting (TX) and receiving (RX) devices, and both devices must be set to the same baud rate (such as 9600, 115200, etc.) to ensure correct communication without data errors. Since UART is asynchronous and does not use a clock signal, the baud rate acts as the timing reference that helps both sides correctly interpret the incoming bits, making it a critical parameter for reliable serial data transfer.</a:t>
            </a:r>
            <a:endParaRPr lang="en-US">
              <a:solidFill>
                <a:srgbClr val="E3E3E3"/>
              </a:solidFill>
              <a:highlight>
                <a:srgbClr val="1E1F20"/>
              </a:highlight>
            </a:endParaRPr>
          </a:p>
        </p:txBody>
      </p:sp>
    </p:spTree>
    <p:extLst>
      <p:ext uri="{BB962C8B-B14F-4D97-AF65-F5344CB8AC3E}">
        <p14:creationId xmlns:p14="http://schemas.microsoft.com/office/powerpoint/2010/main" val="2053780665"/>
      </p:ext>
    </p:extLst>
  </p:cSld>
  <p:clrMapOvr>
    <a:masterClrMapping/>
  </p:clrMapOvr>
  <p:transition advTm="5294">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EAADD-4D97-8B65-E9BF-1355C4FE6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E5290-8E47-6755-931B-6B3F50E32023}"/>
              </a:ext>
            </a:extLst>
          </p:cNvPr>
          <p:cNvSpPr>
            <a:spLocks noGrp="1"/>
          </p:cNvSpPr>
          <p:nvPr>
            <p:ph type="title"/>
          </p:nvPr>
        </p:nvSpPr>
        <p:spPr>
          <a:xfrm>
            <a:off x="1111455" y="602532"/>
            <a:ext cx="9236028" cy="594430"/>
          </a:xfrm>
        </p:spPr>
        <p:txBody>
          <a:bodyPr>
            <a:normAutofit fontScale="90000"/>
          </a:bodyPr>
          <a:lstStyle/>
          <a:p>
            <a:r>
              <a:rPr lang="en-US" dirty="0"/>
              <a:t>UART(Receiver)</a:t>
            </a:r>
          </a:p>
        </p:txBody>
      </p:sp>
      <p:sp>
        <p:nvSpPr>
          <p:cNvPr id="6" name="Content Placeholder 5">
            <a:extLst>
              <a:ext uri="{FF2B5EF4-FFF2-40B4-BE49-F238E27FC236}">
                <a16:creationId xmlns:a16="http://schemas.microsoft.com/office/drawing/2014/main" id="{AA3EBE25-974F-BA56-0CF0-9E5085628233}"/>
              </a:ext>
            </a:extLst>
          </p:cNvPr>
          <p:cNvSpPr>
            <a:spLocks noGrp="1"/>
          </p:cNvSpPr>
          <p:nvPr>
            <p:ph sz="half" idx="2"/>
          </p:nvPr>
        </p:nvSpPr>
        <p:spPr>
          <a:xfrm>
            <a:off x="250909" y="1713271"/>
            <a:ext cx="11782097" cy="4861157"/>
          </a:xfrm>
        </p:spPr>
        <p:txBody>
          <a:bodyPr vert="horz" lIns="91440" tIns="45720" rIns="91440" bIns="45720" rtlCol="0" anchor="t">
            <a:normAutofit/>
          </a:bodyPr>
          <a:lstStyle/>
          <a:p>
            <a:r>
              <a:rPr lang="en-US" sz="2000">
                <a:solidFill>
                  <a:srgbClr val="FFFFFF"/>
                </a:solidFill>
                <a:ea typeface="+mn-lt"/>
                <a:cs typeface="+mn-lt"/>
              </a:rPr>
              <a:t>UART RX (Universal Asynchronous Receiver, receive side) is the part of a UART communication system responsible for receiving serial data from another device. In UART communication, data is transmitted asynchronously, meaning there is no shared clock signal between sender and receiver; instead, both sides agree on a baud rate. The RX line listens for incoming serial bits, typically starting with a start bit, followed by data bits (usually 7–8 bits), an optional parity bit for error checking, and one or more stop bits. The receiver samples the incoming signal at precise intervals to reconstruct the original byte of data. UART RX is widely used in microcontrollers, embedded systems, and communication </a:t>
            </a:r>
            <a:r>
              <a:rPr lang="en-US" sz="2000">
                <a:solidFill>
                  <a:srgbClr val="FFFFFF"/>
                </a:solidFill>
                <a:latin typeface="Calibri"/>
                <a:ea typeface="Calibri"/>
                <a:cs typeface="Calibri"/>
              </a:rPr>
              <a:t>modules</a:t>
            </a:r>
            <a:r>
              <a:rPr lang="en-US" sz="2000">
                <a:solidFill>
                  <a:srgbClr val="FFFFFF"/>
                </a:solidFill>
                <a:ea typeface="+mn-lt"/>
                <a:cs typeface="+mn-lt"/>
              </a:rPr>
              <a:t> because it is simple, reliable, and requires only two wires (TX and RX) for full-duplex communication.</a:t>
            </a:r>
            <a:endParaRPr lang="en-US" sz="2000">
              <a:solidFill>
                <a:srgbClr val="FFFFFF"/>
              </a:solidFill>
            </a:endParaRPr>
          </a:p>
        </p:txBody>
      </p:sp>
    </p:spTree>
    <p:extLst>
      <p:ext uri="{BB962C8B-B14F-4D97-AF65-F5344CB8AC3E}">
        <p14:creationId xmlns:p14="http://schemas.microsoft.com/office/powerpoint/2010/main" val="1299043176"/>
      </p:ext>
    </p:extLst>
  </p:cSld>
  <p:clrMapOvr>
    <a:masterClrMapping/>
  </p:clrMapOvr>
  <p:transition advTm="5294">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78077-9204-2D38-F0F2-3CDC214D3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30A25-02CF-5AAC-F8DD-CA636165F8BA}"/>
              </a:ext>
            </a:extLst>
          </p:cNvPr>
          <p:cNvSpPr>
            <a:spLocks noGrp="1"/>
          </p:cNvSpPr>
          <p:nvPr>
            <p:ph type="title"/>
          </p:nvPr>
        </p:nvSpPr>
        <p:spPr>
          <a:xfrm>
            <a:off x="3556281" y="567227"/>
            <a:ext cx="4584682" cy="594430"/>
          </a:xfrm>
        </p:spPr>
        <p:txBody>
          <a:bodyPr>
            <a:normAutofit fontScale="90000"/>
          </a:bodyPr>
          <a:lstStyle/>
          <a:p>
            <a:r>
              <a:rPr lang="en-US" dirty="0"/>
              <a:t>UART(Transmitter)</a:t>
            </a:r>
          </a:p>
        </p:txBody>
      </p:sp>
      <p:sp>
        <p:nvSpPr>
          <p:cNvPr id="6" name="Content Placeholder 5">
            <a:extLst>
              <a:ext uri="{FF2B5EF4-FFF2-40B4-BE49-F238E27FC236}">
                <a16:creationId xmlns:a16="http://schemas.microsoft.com/office/drawing/2014/main" id="{74C34F07-6F0F-D4B7-544B-12402442D6DA}"/>
              </a:ext>
            </a:extLst>
          </p:cNvPr>
          <p:cNvSpPr>
            <a:spLocks noGrp="1"/>
          </p:cNvSpPr>
          <p:nvPr>
            <p:ph sz="half" idx="2"/>
          </p:nvPr>
        </p:nvSpPr>
        <p:spPr>
          <a:xfrm>
            <a:off x="206779" y="1430831"/>
            <a:ext cx="11782097" cy="4861157"/>
          </a:xfrm>
        </p:spPr>
        <p:txBody>
          <a:bodyPr vert="horz" lIns="91440" tIns="45720" rIns="91440" bIns="45720" rtlCol="0" anchor="t">
            <a:normAutofit/>
          </a:bodyPr>
          <a:lstStyle/>
          <a:p>
            <a:r>
              <a:rPr lang="en-US" sz="2000">
                <a:solidFill>
                  <a:srgbClr val="FFFFFF"/>
                </a:solidFill>
                <a:ea typeface="+mn-lt"/>
                <a:cs typeface="+mn-lt"/>
              </a:rPr>
              <a:t>UART TX (Transmit) is the output line of a UART communication system that sends serial data from one device to another one bit at a time. It works asynchronously, meaning there is no shared clock signal, so both devices must agree on the same baud rate beforehand to interpret the bits correctly. The TX pin of a device continuously sends framed data (start bit, data bits, optional parity bit, and stop bit) whenever it has information to transmit, and it is usually connected to the RX (Receive) pin of another device to complete communication. UART TX is widely used in microcontrollers, GPS modules, Bluetooth modules, and debugging serial consoles because it requires only a few wires (TX, RX, and GND) and allows reliable full-duplex communication over short distances.</a:t>
            </a:r>
            <a:endParaRPr lang="en-US" sz="2000">
              <a:solidFill>
                <a:srgbClr val="FFFFFF"/>
              </a:solidFill>
            </a:endParaRPr>
          </a:p>
        </p:txBody>
      </p:sp>
    </p:spTree>
    <p:extLst>
      <p:ext uri="{BB962C8B-B14F-4D97-AF65-F5344CB8AC3E}">
        <p14:creationId xmlns:p14="http://schemas.microsoft.com/office/powerpoint/2010/main" val="1372872408"/>
      </p:ext>
    </p:extLst>
  </p:cSld>
  <p:clrMapOvr>
    <a:masterClrMapping/>
  </p:clrMapOvr>
  <p:transition advTm="5294">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8D0547-8D87-3AC8-B101-636429836490}"/>
            </a:ext>
          </a:extLst>
        </p:cNvPr>
        <p:cNvGrpSpPr/>
        <p:nvPr/>
      </p:nvGrpSpPr>
      <p:grpSpPr>
        <a:xfrm>
          <a:off x="0" y="0"/>
          <a:ext cx="0" cy="0"/>
          <a:chOff x="0" y="0"/>
          <a:chExt cx="0" cy="0"/>
        </a:xfrm>
      </p:grpSpPr>
      <p:pic>
        <p:nvPicPr>
          <p:cNvPr id="8" name="Picture 7" descr="Circuit board">
            <a:extLst>
              <a:ext uri="{FF2B5EF4-FFF2-40B4-BE49-F238E27FC236}">
                <a16:creationId xmlns:a16="http://schemas.microsoft.com/office/drawing/2014/main" id="{31CFC73A-3A2C-8E75-D8F6-A1E51D564EAB}"/>
              </a:ext>
            </a:extLst>
          </p:cNvPr>
          <p:cNvPicPr>
            <a:picLocks noChangeAspect="1"/>
          </p:cNvPicPr>
          <p:nvPr/>
        </p:nvPicPr>
        <p:blipFill>
          <a:blip r:embed="rId2">
            <a:alphaModFix amt="40000"/>
          </a:blip>
          <a:srcRect t="15708"/>
          <a:stretch>
            <a:fillRect/>
          </a:stretch>
        </p:blipFill>
        <p:spPr>
          <a:xfrm>
            <a:off x="20" y="10"/>
            <a:ext cx="12188805" cy="6857990"/>
          </a:xfrm>
          <a:prstGeom prst="rect">
            <a:avLst/>
          </a:prstGeom>
        </p:spPr>
      </p:pic>
      <p:sp>
        <p:nvSpPr>
          <p:cNvPr id="2" name="Title 1">
            <a:extLst>
              <a:ext uri="{FF2B5EF4-FFF2-40B4-BE49-F238E27FC236}">
                <a16:creationId xmlns:a16="http://schemas.microsoft.com/office/drawing/2014/main" id="{B34B314E-DBC7-984B-F095-37CA58D0D5F9}"/>
              </a:ext>
            </a:extLst>
          </p:cNvPr>
          <p:cNvSpPr>
            <a:spLocks noGrp="1"/>
          </p:cNvSpPr>
          <p:nvPr>
            <p:ph type="title"/>
          </p:nvPr>
        </p:nvSpPr>
        <p:spPr/>
        <p:txBody>
          <a:bodyPr vert="horz" lIns="91440" tIns="45720" rIns="91440" bIns="45720" rtlCol="0" anchor="ctr">
            <a:normAutofit/>
          </a:bodyPr>
          <a:lstStyle/>
          <a:p>
            <a:pPr defTabSz="457200"/>
            <a:r>
              <a:rPr lang="en-US" sz="3600">
                <a:solidFill>
                  <a:schemeClr val="tx1"/>
                </a:solidFill>
              </a:rPr>
              <a:t>Bram</a:t>
            </a:r>
          </a:p>
        </p:txBody>
      </p:sp>
      <p:sp>
        <p:nvSpPr>
          <p:cNvPr id="6" name="Content Placeholder 5">
            <a:extLst>
              <a:ext uri="{FF2B5EF4-FFF2-40B4-BE49-F238E27FC236}">
                <a16:creationId xmlns:a16="http://schemas.microsoft.com/office/drawing/2014/main" id="{07F5A65B-1BFB-34B3-B5A7-208FD9A9D8AF}"/>
              </a:ext>
            </a:extLst>
          </p:cNvPr>
          <p:cNvSpPr>
            <a:spLocks noGrp="1"/>
          </p:cNvSpPr>
          <p:nvPr>
            <p:ph sz="half" idx="2"/>
          </p:nvPr>
        </p:nvSpPr>
        <p:spPr>
          <a:xfrm>
            <a:off x="1154653" y="2603500"/>
            <a:ext cx="8823360" cy="3416300"/>
          </a:xfrm>
        </p:spPr>
        <p:txBody>
          <a:bodyPr vert="horz" lIns="91440" tIns="45720" rIns="91440" bIns="45720" rtlCol="0">
            <a:normAutofit/>
          </a:bodyPr>
          <a:lstStyle/>
          <a:p>
            <a:pPr defTabSz="457200"/>
            <a:r>
              <a:rPr lang="en-US">
                <a:solidFill>
                  <a:schemeClr val="tx1"/>
                </a:solidFill>
              </a:rPr>
              <a:t>BRAM (Block RAM) is a type of high-speed, dedicated memory built directly inside FPGAs (Field-Programmable Gate Arrays) that is used to store data efficiently within the chip itself. Unlike ggeneral-purpose logic-based memory, BRAM is implemented as fixed hardware blocks (usually SRAM-based) a and provide,  predictable access to data without needing external memory chips. It is commonly used for buffers, FIFOs,  lookup tables, and data storage in digital signal processing or embedded systems. Because it is integrated into the FPGA fabric, BRAM offers much lower latency and higher performance compared to external memory, but its total capacity is limited by the hardware resources available on the chip. </a:t>
            </a:r>
          </a:p>
        </p:txBody>
      </p:sp>
    </p:spTree>
    <p:extLst>
      <p:ext uri="{BB962C8B-B14F-4D97-AF65-F5344CB8AC3E}">
        <p14:creationId xmlns:p14="http://schemas.microsoft.com/office/powerpoint/2010/main" val="3639172475"/>
      </p:ext>
    </p:extLst>
  </p:cSld>
  <p:clrMapOvr>
    <a:overrideClrMapping bg1="dk1" tx1="lt1" bg2="dk2" tx2="lt2" accent1="accent1" accent2="accent2" accent3="accent3" accent4="accent4" accent5="accent5" accent6="accent6" hlink="hlink" folHlink="folHlink"/>
  </p:clrMapOvr>
  <p:transition advTm="5294">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05B23-D573-B30F-425C-650F49213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BC687-3EC1-1516-C68B-867F4F837BD6}"/>
              </a:ext>
            </a:extLst>
          </p:cNvPr>
          <p:cNvSpPr>
            <a:spLocks noGrp="1"/>
          </p:cNvSpPr>
          <p:nvPr>
            <p:ph type="title"/>
          </p:nvPr>
        </p:nvSpPr>
        <p:spPr>
          <a:xfrm>
            <a:off x="3556281" y="567227"/>
            <a:ext cx="4584682" cy="594430"/>
          </a:xfrm>
        </p:spPr>
        <p:txBody>
          <a:bodyPr>
            <a:normAutofit fontScale="90000"/>
          </a:bodyPr>
          <a:lstStyle/>
          <a:p>
            <a:r>
              <a:rPr lang="en-US" dirty="0"/>
              <a:t>FSM(Moore)</a:t>
            </a:r>
          </a:p>
        </p:txBody>
      </p:sp>
      <p:sp>
        <p:nvSpPr>
          <p:cNvPr id="6" name="Content Placeholder 5">
            <a:extLst>
              <a:ext uri="{FF2B5EF4-FFF2-40B4-BE49-F238E27FC236}">
                <a16:creationId xmlns:a16="http://schemas.microsoft.com/office/drawing/2014/main" id="{41C782B7-A7EE-F8C4-8845-50098DBA54BC}"/>
              </a:ext>
            </a:extLst>
          </p:cNvPr>
          <p:cNvSpPr>
            <a:spLocks noGrp="1"/>
          </p:cNvSpPr>
          <p:nvPr>
            <p:ph sz="half" idx="2"/>
          </p:nvPr>
        </p:nvSpPr>
        <p:spPr>
          <a:xfrm>
            <a:off x="206779" y="1430831"/>
            <a:ext cx="11782097" cy="4861157"/>
          </a:xfrm>
        </p:spPr>
        <p:txBody>
          <a:bodyPr vert="horz" lIns="91440" tIns="45720" rIns="91440" bIns="45720" rtlCol="0" anchor="t">
            <a:normAutofit/>
          </a:bodyPr>
          <a:lstStyle/>
          <a:p>
            <a:r>
              <a:rPr lang="en-US" sz="2000" dirty="0">
                <a:solidFill>
                  <a:srgbClr val="FFFFFF"/>
                </a:solidFill>
                <a:ea typeface="+mn-lt"/>
                <a:cs typeface="+mn-lt"/>
              </a:rPr>
              <a:t>A </a:t>
            </a:r>
            <a:r>
              <a:rPr lang="en-US" sz="2000" b="1" dirty="0">
                <a:solidFill>
                  <a:srgbClr val="FFFFFF"/>
                </a:solidFill>
                <a:ea typeface="+mn-lt"/>
                <a:cs typeface="+mn-lt"/>
              </a:rPr>
              <a:t>Moore FSM (Moore Finite State Machine)</a:t>
            </a:r>
            <a:r>
              <a:rPr lang="en-US" sz="2000" dirty="0">
                <a:solidFill>
                  <a:srgbClr val="FFFFFF"/>
                </a:solidFill>
                <a:ea typeface="+mn-lt"/>
                <a:cs typeface="+mn-lt"/>
              </a:rPr>
              <a:t> is a type of finite state machine in which the </a:t>
            </a:r>
            <a:r>
              <a:rPr lang="en-US" sz="2000" b="1" dirty="0">
                <a:solidFill>
                  <a:srgbClr val="FFFFFF"/>
                </a:solidFill>
                <a:ea typeface="+mn-lt"/>
                <a:cs typeface="+mn-lt"/>
              </a:rPr>
              <a:t>output depends only on the current state</a:t>
            </a:r>
            <a:r>
              <a:rPr lang="en-US" sz="2000" dirty="0">
                <a:solidFill>
                  <a:srgbClr val="FFFFFF"/>
                </a:solidFill>
                <a:ea typeface="+mn-lt"/>
                <a:cs typeface="+mn-lt"/>
              </a:rPr>
              <a:t>, not on the current inputs. This means the output is stable for each state and changes only when the machine transitions to a new state on a clock edge, making it very predictable and glitch-free in digital circuits. The inputs are still used to  decide the </a:t>
            </a:r>
            <a:r>
              <a:rPr lang="en-US" sz="2000" i="1" dirty="0">
                <a:solidFill>
                  <a:srgbClr val="FFFFFF"/>
                </a:solidFill>
                <a:ea typeface="+mn-lt"/>
                <a:cs typeface="+mn-lt"/>
              </a:rPr>
              <a:t>next state</a:t>
            </a:r>
            <a:r>
              <a:rPr lang="en-US" sz="2000" dirty="0">
                <a:solidFill>
                  <a:srgbClr val="FFFFFF"/>
                </a:solidFill>
                <a:ea typeface="+mn-lt"/>
                <a:cs typeface="+mn-lt"/>
              </a:rPr>
              <a:t>, but they do not directly affect the output. Because of this property, Moore FSMs are widely used in hardware design (like controllers, sequence detectors, and control units) where stable timing behavior is important. </a:t>
            </a:r>
            <a:endParaRPr lang="en-US" sz="2000" dirty="0">
              <a:solidFill>
                <a:srgbClr val="FFFFFF"/>
              </a:solidFill>
              <a:latin typeface="Calibri"/>
              <a:ea typeface="Calibri"/>
              <a:cs typeface="Calibri"/>
            </a:endParaRPr>
          </a:p>
          <a:p>
            <a:endParaRPr lang="en-US" sz="2000" dirty="0">
              <a:solidFill>
                <a:srgbClr val="FFFFFF"/>
              </a:solidFill>
              <a:latin typeface="Calibri"/>
              <a:ea typeface="Calibri"/>
              <a:cs typeface="Calibri"/>
            </a:endParaRPr>
          </a:p>
        </p:txBody>
      </p:sp>
    </p:spTree>
    <p:extLst>
      <p:ext uri="{BB962C8B-B14F-4D97-AF65-F5344CB8AC3E}">
        <p14:creationId xmlns:p14="http://schemas.microsoft.com/office/powerpoint/2010/main" val="3760271103"/>
      </p:ext>
    </p:extLst>
  </p:cSld>
  <p:clrMapOvr>
    <a:masterClrMapping/>
  </p:clrMapOvr>
  <p:transition advTm="5294">
    <p:wip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Implementation of Quantized Neural Network (QNN)</a:t>
            </a:r>
          </a:p>
          <a:p>
            <a:pPr/>
            <a:r>
              <a:t>California Housing dataset used for prediction</a:t>
            </a:r>
          </a:p>
          <a:p>
            <a:pPr/>
            <a:r>
              <a:t>MLP regression model for FPGA deployment</a:t>
            </a:r>
          </a:p>
          <a:p>
            <a:pPr/>
            <a:r>
              <a:t>INT16 quantization for hardware efficiency</a:t>
            </a:r>
          </a:p>
          <a:p>
            <a:pPr/>
            <a:r>
              <a:t>Implemented on Tang Nano 9K using Verilog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Aim</a:t>
            </a:r>
          </a:p>
        </p:txBody>
      </p:sp>
      <p:sp>
        <p:nvSpPr>
          <p:cNvPr id="3" name="Content Placeholder 2"/>
          <p:cNvSpPr>
            <a:spLocks noGrp="1"/>
          </p:cNvSpPr>
          <p:nvPr>
            <p:ph idx="1"/>
          </p:nvPr>
        </p:nvSpPr>
        <p:spPr/>
        <p:txBody>
          <a:bodyPr/>
          <a:lstStyle/>
          <a:p>
            <a:r>
              <a:t>Design low-complexity neural network for FPGA</a:t>
            </a:r>
          </a:p>
          <a:p>
            <a:pPr/>
            <a:r>
              <a:t>Convert trained model to INT16 QNN</a:t>
            </a:r>
          </a:p>
          <a:p>
            <a:pPr/>
            <a:r>
              <a:t>Implement efficient FPGA inference</a:t>
            </a:r>
          </a:p>
          <a:p>
            <a:pPr/>
            <a:r>
              <a:t>Reduce power and latency</a:t>
            </a:r>
          </a:p>
          <a:p>
            <a:pPr/>
            <a:r>
              <a:t>Enable real-time prediction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r>
              <a:t>R² Score ≈ 0.70</a:t>
            </a:r>
          </a:p>
          <a:p>
            <a:pPr/>
            <a:r>
              <a:t>RMSE ≈ 60000</a:t>
            </a:r>
          </a:p>
          <a:p>
            <a:pPr/>
            <a:r>
              <a:t>MAPE ≈ 24%</a:t>
            </a:r>
          </a:p>
          <a:p>
            <a:pPr/>
            <a:r>
              <a:t>Low power consumption (~70mW)</a:t>
            </a:r>
          </a:p>
          <a:p>
            <a:pPr/>
            <a:r>
              <a:t>Faster inference than CPU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Successfully deployed INT16 QNN on FPGA</a:t>
            </a:r>
          </a:p>
          <a:p>
            <a:pPr/>
            <a:r>
              <a:t>Achieved balance of accuracy and efficiency</a:t>
            </a:r>
          </a:p>
          <a:p>
            <a:pPr/>
            <a:r>
              <a:t>Low latency and power consumption</a:t>
            </a:r>
          </a:p>
          <a:p>
            <a:pPr/>
            <a:r>
              <a:t>Suitable for embedded applications</a:t>
            </a:r>
          </a:p>
          <a:p>
            <a:pPr/>
            <a:r>
              <a:t>Minor accuracy loss due to quantization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Kokkinis &amp; Siozios, FPGA-Based MLP Accelerators, 2025</a:t>
            </a:r>
          </a:p>
          <a:p>
            <a:pPr/>
            <a:r>
              <a:t>Bahoura &amp; Park, FPGA High-Speed MLP, 2011</a:t>
            </a:r>
          </a:p>
          <a:p>
            <a:pPr/>
            <a:r>
              <a:t>Mora-Garcia et al., House Price Prediction, 2022</a:t>
            </a:r>
          </a:p>
          <a:p>
            <a:pPr/>
            <a:r>
              <a:t>Survey on FPGA-Based ML Accelerators, 2024</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BA52FF4-E484-4953-8434-9402E3BE0AB5}">
  <ds:schemaRefs>
    <ds:schemaRef ds:uri="http://schemas.microsoft.com/sharepoint/v3/contenttype/forms"/>
  </ds:schemaRefs>
</ds:datastoreItem>
</file>

<file path=customXml/itemProps2.xml><?xml version="1.0" encoding="utf-8"?>
<ds:datastoreItem xmlns:ds="http://schemas.openxmlformats.org/officeDocument/2006/customXml" ds:itemID="{25FC92C0-A33F-467F-A65D-AA0CE0BD2B63}">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82B82EB-80D3-4DDB-9A53-0D22163B57B3}">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151</TotalTime>
  <Words>2490</Words>
  <Application>Microsoft Office PowerPoint</Application>
  <PresentationFormat>Custom</PresentationFormat>
  <Paragraphs>83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Century Gothic</vt:lpstr>
      <vt:lpstr>Corbel</vt:lpstr>
      <vt:lpstr>Wingdings 3</vt:lpstr>
      <vt:lpstr>Ion</vt:lpstr>
      <vt:lpstr>CALIFORNIA HOUSING PRICE PREDICTION ON FPGA USING CNN</vt:lpstr>
      <vt:lpstr>CONTENT</vt:lpstr>
      <vt:lpstr>Python</vt:lpstr>
      <vt:lpstr>  CNN</vt:lpstr>
      <vt:lpstr>  Regression Model (Forward      Propagation) </vt:lpstr>
      <vt:lpstr>MINIST DATASET USED FOR CNN MODEL </vt:lpstr>
      <vt:lpstr>PANDAS </vt:lpstr>
      <vt:lpstr>NUMPY </vt:lpstr>
      <vt:lpstr>Matplotlib  </vt:lpstr>
      <vt:lpstr>Data Preparation &amp; Partitioning </vt:lpstr>
      <vt:lpstr>Model Architecture &amp; Training</vt:lpstr>
      <vt:lpstr>Performance Evaluation &amp; Export</vt:lpstr>
      <vt:lpstr> ​QNN(QUNATIZED NEURAL NETWORK)</vt:lpstr>
      <vt:lpstr>TANG NANO 9K</vt:lpstr>
      <vt:lpstr>VS Code Environment for Tang Nano 9K</vt:lpstr>
      <vt:lpstr>UART</vt:lpstr>
      <vt:lpstr>UART(Receiver)</vt:lpstr>
      <vt:lpstr>UART(Transmitter)</vt:lpstr>
      <vt:lpstr>Bram</vt:lpstr>
      <vt:lpstr>FSM(Moore)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Rishabh Chaubey</cp:lastModifiedBy>
  <cp:revision>3</cp:revision>
  <dcterms:created xsi:type="dcterms:W3CDTF">2026-04-17T17:38:02Z</dcterms:created>
  <dcterms:modified xsi:type="dcterms:W3CDTF">2026-05-05T15:17:05Z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